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92191"/>
            <a:ext cx="5143500" cy="5486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智能进化 Data Agent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330537"/>
            <a:ext cx="5143500" cy="6607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MinerU + DeepSeek 的</a:t>
            </a:r>
            <a:r>
              <a:rPr lang="en-US" sz="17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7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财报结构化与防幻觉系统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75310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3371738"/>
            <a:ext cx="611209" cy="15894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演示人：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25354"/>
            <a:ext cx="12501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953" y="3721782"/>
            <a:ext cx="2008482" cy="1589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智能进化 · Agent 能力评测赛道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8B2AC"/>
          </a:solidFill>
        </p:spPr>
      </p:sp>
      <p:sp>
        <p:nvSpPr>
          <p:cNvPr id="10" name="Shape 5"/>
          <p:cNvSpPr/>
          <p:nvPr/>
        </p:nvSpPr>
        <p:spPr>
          <a:xfrm>
            <a:off x="6536531" y="1244798"/>
            <a:ext cx="1785938" cy="350044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536531" y="1244798"/>
            <a:ext cx="1785938" cy="350044"/>
          </a:xfrm>
          <a:prstGeom prst="rect">
            <a:avLst/>
          </a:prstGeom>
          <a:noFill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PDF 文档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741" y="1723430"/>
            <a:ext cx="137517" cy="157163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536531" y="2027039"/>
            <a:ext cx="1785938" cy="317897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536531" y="2027039"/>
            <a:ext cx="1785938" cy="317897"/>
          </a:xfrm>
          <a:prstGeom prst="rect">
            <a:avLst/>
          </a:prstGeom>
          <a:noFill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MinerU SaaS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741" y="2473523"/>
            <a:ext cx="137517" cy="157163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536531" y="2777133"/>
            <a:ext cx="1785938" cy="317897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536531" y="2777133"/>
            <a:ext cx="1785938" cy="317897"/>
          </a:xfrm>
          <a:prstGeom prst="rect">
            <a:avLst/>
          </a:prstGeom>
          <a:noFill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Agent</a:t>
            </a:r>
            <a:endParaRPr lang="en-US" sz="8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741" y="3223617"/>
            <a:ext cx="137517" cy="157163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536531" y="3527227"/>
            <a:ext cx="1785938" cy="350044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6536531" y="3527227"/>
            <a:ext cx="1785938" cy="350044"/>
          </a:xfrm>
          <a:prstGeom prst="rect">
            <a:avLst/>
          </a:prstGeom>
          <a:noFill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JSON 结果 / API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赛题要求与项目定位：提交可评测的数据智能体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285750" y="1225823"/>
            <a:ext cx="4214813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赛题硬性要求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85750" y="1596237"/>
            <a:ext cx="138597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必须使用 MinerU 工具链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85750" y="1939137"/>
            <a:ext cx="117883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提供可调用 API 服务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85750" y="2282037"/>
            <a:ext cx="900113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输出结构化结果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85750" y="2624937"/>
            <a:ext cx="1414463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提供运行说明和接口说明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5750" y="2967837"/>
            <a:ext cx="154305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提供测试结果和可复现日志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43438" y="1225823"/>
            <a:ext cx="4214813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本项目对应实现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628384"/>
            <a:ext cx="128588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57750" y="1626598"/>
            <a:ext cx="1550668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深度集成 MinerU SaaS API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971284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57750" y="1969498"/>
            <a:ext cx="1393199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异步提交与轮询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314184"/>
            <a:ext cx="128588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57750" y="2312398"/>
            <a:ext cx="1521954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自动提取标准 JSON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657084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7750" y="2655298"/>
            <a:ext cx="167183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完善的 README 与 API 文档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999984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57750" y="2998198"/>
            <a:ext cx="154305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详尽的执行日志与测试矩阵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财报抽取挑战：文档智能中的高风险任务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25823"/>
            <a:ext cx="2571750" cy="147549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71500" y="1225823"/>
            <a:ext cx="2571750" cy="28575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6" name="Shape 3"/>
          <p:cNvSpPr/>
          <p:nvPr/>
        </p:nvSpPr>
        <p:spPr>
          <a:xfrm>
            <a:off x="785813" y="1282973"/>
            <a:ext cx="428625" cy="428625"/>
          </a:xfrm>
          <a:prstGeom prst="ellipse">
            <a:avLst/>
          </a:prstGeom>
          <a:solidFill>
            <a:srgbClr val="EBF8FF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156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1783035"/>
            <a:ext cx="2143125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复杂版式干扰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5813" y="2066999"/>
            <a:ext cx="214312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财报页数多、表格密集，关键指标常跨页分布，传统解析极易产生结构断裂。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286125" y="1225823"/>
            <a:ext cx="2571750" cy="147549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7"/>
          <p:cNvSpPr/>
          <p:nvPr/>
        </p:nvSpPr>
        <p:spPr>
          <a:xfrm>
            <a:off x="3286125" y="1225823"/>
            <a:ext cx="2571750" cy="28575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12" name="Shape 8"/>
          <p:cNvSpPr/>
          <p:nvPr/>
        </p:nvSpPr>
        <p:spPr>
          <a:xfrm>
            <a:off x="3500438" y="1282973"/>
            <a:ext cx="428625" cy="428625"/>
          </a:xfrm>
          <a:prstGeom prst="ellipse">
            <a:avLst/>
          </a:prstGeom>
          <a:solidFill>
            <a:srgbClr val="EBF8FF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456" y="1411560"/>
            <a:ext cx="128588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00438" y="1783035"/>
            <a:ext cx="2143125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高密度数字混淆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500438" y="2066999"/>
            <a:ext cx="214312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年份、附注编号、单位及合计项极易产生误读，缺乏上下文理解会导致数据错误。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00750" y="1225823"/>
            <a:ext cx="2571750" cy="147549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2"/>
          <p:cNvSpPr/>
          <p:nvPr/>
        </p:nvSpPr>
        <p:spPr>
          <a:xfrm>
            <a:off x="6000750" y="1225823"/>
            <a:ext cx="2571750" cy="28575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18" name="Shape 13"/>
          <p:cNvSpPr/>
          <p:nvPr/>
        </p:nvSpPr>
        <p:spPr>
          <a:xfrm>
            <a:off x="6215063" y="1282973"/>
            <a:ext cx="428625" cy="428625"/>
          </a:xfrm>
          <a:prstGeom prst="ellipse">
            <a:avLst/>
          </a:prstGeom>
          <a:solidFill>
            <a:srgbClr val="EBF8FF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219" y="1411560"/>
            <a:ext cx="214313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5063" y="1783035"/>
            <a:ext cx="2143125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模型幻觉风险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215063" y="2066999"/>
            <a:ext cx="2143125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直接抽取易产生虚假数字，且结果之间缺乏逻辑校验，无法直接用于金融审计。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571500" y="2844189"/>
            <a:ext cx="8001000" cy="917972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23" name="Text 17"/>
          <p:cNvSpPr/>
          <p:nvPr/>
        </p:nvSpPr>
        <p:spPr>
          <a:xfrm>
            <a:off x="742950" y="3015639"/>
            <a:ext cx="76581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2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引入财务恒等式校验机制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42950" y="3260313"/>
            <a:ext cx="7658100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资产总计 = 负债合计 + 所有者权益合计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42900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系统总体架构：解析与智能校验的深度协作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842963"/>
            <a:ext cx="4629150" cy="4714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842963"/>
            <a:ext cx="1285875" cy="457200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6" name="Text 3"/>
          <p:cNvSpPr/>
          <p:nvPr/>
        </p:nvSpPr>
        <p:spPr>
          <a:xfrm>
            <a:off x="571500" y="842963"/>
            <a:ext cx="1285875" cy="4572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 接入层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857375" y="977801"/>
            <a:ext cx="3343275" cy="187523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评测端请求接收、异步任务分发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" y="1343025"/>
            <a:ext cx="4629150" cy="4714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1500" y="1343025"/>
            <a:ext cx="1285875" cy="457200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10" name="Text 7"/>
          <p:cNvSpPr/>
          <p:nvPr/>
        </p:nvSpPr>
        <p:spPr>
          <a:xfrm>
            <a:off x="571500" y="1343025"/>
            <a:ext cx="1285875" cy="4572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MinerU 解析层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57375" y="1477863"/>
            <a:ext cx="3343275" cy="187523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PDF/HTML 还原、结构化 Markdown 输出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1500" y="1843088"/>
            <a:ext cx="4629150" cy="4714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" y="1843088"/>
            <a:ext cx="1285875" cy="457200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14" name="Text 11"/>
          <p:cNvSpPr/>
          <p:nvPr/>
        </p:nvSpPr>
        <p:spPr>
          <a:xfrm>
            <a:off x="571500" y="1843088"/>
            <a:ext cx="1285875" cy="4572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处理层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00250" y="1949351"/>
            <a:ext cx="785813" cy="244673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00250" y="1949351"/>
            <a:ext cx="785813" cy="244673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规则抽取引擎</a:t>
            </a:r>
            <a:endParaRPr lang="en-US" sz="7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788" y="2028825"/>
            <a:ext cx="75009" cy="8572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046809" y="1949351"/>
            <a:ext cx="1091710" cy="244673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46809" y="1949351"/>
            <a:ext cx="1091710" cy="244673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DeepSeek 语义兜底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71500" y="2343150"/>
            <a:ext cx="4629150" cy="4714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1500" y="2343150"/>
            <a:ext cx="1285875" cy="457200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22" name="Text 18"/>
          <p:cNvSpPr/>
          <p:nvPr/>
        </p:nvSpPr>
        <p:spPr>
          <a:xfrm>
            <a:off x="571500" y="2343150"/>
            <a:ext cx="1285875" cy="4572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审计校验层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857375" y="2477988"/>
            <a:ext cx="3343275" cy="187523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财务恒等式验证、反思重试机制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71500" y="2843213"/>
            <a:ext cx="4629150" cy="4714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71500" y="2843213"/>
            <a:ext cx="1285875" cy="457200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26" name="Text 22"/>
          <p:cNvSpPr/>
          <p:nvPr/>
        </p:nvSpPr>
        <p:spPr>
          <a:xfrm>
            <a:off x="571500" y="2843213"/>
            <a:ext cx="1285875" cy="4572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结果输出层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857375" y="2978051"/>
            <a:ext cx="3343275" cy="187523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结构化 JSON、任务状态持久化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486400" y="885825"/>
            <a:ext cx="942975" cy="283964"/>
          </a:xfrm>
          <a:prstGeom prst="rect">
            <a:avLst/>
          </a:prstGeom>
          <a:noFill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核心组件说明</a:t>
            </a:r>
            <a:endParaRPr lang="en-US" sz="11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41227"/>
            <a:ext cx="107156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679281" y="1241227"/>
            <a:ext cx="1589177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main.py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679281" y="1398389"/>
            <a:ext cx="1589177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路由、异步任务管理、状态查询</a:t>
            </a:r>
            <a:endParaRPr lang="en-US" sz="7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00200"/>
            <a:ext cx="107156" cy="1714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79281" y="1600200"/>
            <a:ext cx="1522651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mineru_client.py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5679281" y="1757363"/>
            <a:ext cx="1522651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SaaS 任务提交与结果轮询</a:t>
            </a:r>
            <a:endParaRPr lang="en-US" sz="7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959173"/>
            <a:ext cx="107156" cy="17145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679281" y="1959173"/>
            <a:ext cx="1500188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agent.py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5679281" y="2116336"/>
            <a:ext cx="1500188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上下文打包、指标抽取、反思校验</a:t>
            </a:r>
            <a:endParaRPr lang="en-US" sz="7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318147"/>
            <a:ext cx="125016" cy="1714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697141" y="2318147"/>
            <a:ext cx="1400175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task_db.json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5697141" y="2475309"/>
            <a:ext cx="1400175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任务状态与处理结果持久化存储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异步任务工作流：从 PDF URL 到结构化结果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071563" y="1225823"/>
            <a:ext cx="600075" cy="6000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8" y="1411560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854473"/>
            <a:ext cx="160020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任务提交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2104504"/>
            <a:ext cx="1600200" cy="260021"/>
          </a:xfrm>
          <a:prstGeom prst="rect">
            <a:avLst/>
          </a:prstGeom>
          <a:noFill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 file_url、场景及目标指标，生成 job_id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2671763" y="1225823"/>
            <a:ext cx="600075" cy="6000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791" y="1411560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71700" y="1854473"/>
            <a:ext cx="160020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MinerU 解析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171700" y="2104504"/>
            <a:ext cx="1600200" cy="260021"/>
          </a:xfrm>
          <a:prstGeom prst="rect">
            <a:avLst/>
          </a:prstGeom>
          <a:noFill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引擎将 PDF 转化为结构化 Markdown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4271963" y="1225823"/>
            <a:ext cx="600075" cy="6000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84" y="1411560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71900" y="1854473"/>
            <a:ext cx="160020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处理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3771900" y="2104504"/>
            <a:ext cx="1600200" cy="260021"/>
          </a:xfrm>
          <a:prstGeom prst="rect">
            <a:avLst/>
          </a:prstGeom>
          <a:noFill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智能提取指标，执行上下文理解与初步清洗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5872163" y="1225823"/>
            <a:ext cx="600075" cy="6000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372100" y="1854473"/>
            <a:ext cx="160020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审计校验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372100" y="2104504"/>
            <a:ext cx="1600200" cy="260021"/>
          </a:xfrm>
          <a:prstGeom prst="rect">
            <a:avLst/>
          </a:prstGeom>
          <a:noFill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基于财务恒等式进行逻辑自洽性验证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7472363" y="1225823"/>
            <a:ext cx="600075" cy="60007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889" y="1411560"/>
            <a:ext cx="175022" cy="2000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72300" y="1854473"/>
            <a:ext cx="160020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结果输出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972300" y="2104504"/>
            <a:ext cx="1600200" cy="260021"/>
          </a:xfrm>
          <a:prstGeom prst="rect">
            <a:avLst/>
          </a:prstGeom>
          <a:noFill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返回 JSON 结构化数据，任务持久化落盘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571500" y="2421675"/>
            <a:ext cx="8001000" cy="383977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4" name="Text 17"/>
          <p:cNvSpPr/>
          <p:nvPr/>
        </p:nvSpPr>
        <p:spPr>
          <a:xfrm>
            <a:off x="1553570" y="2541333"/>
            <a:ext cx="535781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kern="0" spc="1" dirty="0">
                <a:solidFill>
                  <a:srgbClr val="4A556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状态流转：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2175077" y="2493113"/>
            <a:ext cx="582941" cy="241102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26" name="Text 19"/>
          <p:cNvSpPr/>
          <p:nvPr/>
        </p:nvSpPr>
        <p:spPr>
          <a:xfrm>
            <a:off x="2175077" y="2493113"/>
            <a:ext cx="582941" cy="241102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queued</a:t>
            </a:r>
            <a:endParaRPr lang="en-US" sz="8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43" y="2552942"/>
            <a:ext cx="114300" cy="1143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3043768" y="2493113"/>
            <a:ext cx="1268741" cy="241102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29" name="Text 21"/>
          <p:cNvSpPr/>
          <p:nvPr/>
        </p:nvSpPr>
        <p:spPr>
          <a:xfrm>
            <a:off x="3043768" y="2493113"/>
            <a:ext cx="1268741" cy="241102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parsing_document</a:t>
            </a:r>
            <a:endParaRPr lang="en-US" sz="8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34" y="2552942"/>
            <a:ext cx="114300" cy="1143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598259" y="2493113"/>
            <a:ext cx="1268741" cy="241102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32" name="Text 23"/>
          <p:cNvSpPr/>
          <p:nvPr/>
        </p:nvSpPr>
        <p:spPr>
          <a:xfrm>
            <a:off x="4598259" y="2493113"/>
            <a:ext cx="1268741" cy="241102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agent_processing</a:t>
            </a:r>
            <a:endParaRPr lang="en-US" sz="8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725" y="2552942"/>
            <a:ext cx="114300" cy="1143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152750" y="2493113"/>
            <a:ext cx="651532" cy="241102"/>
          </a:xfrm>
          <a:prstGeom prst="rect">
            <a:avLst/>
          </a:prstGeom>
          <a:solidFill>
            <a:srgbClr val="38B2AC"/>
          </a:solidFill>
        </p:spPr>
      </p:sp>
      <p:sp>
        <p:nvSpPr>
          <p:cNvPr id="35" name="Text 25"/>
          <p:cNvSpPr/>
          <p:nvPr/>
        </p:nvSpPr>
        <p:spPr>
          <a:xfrm>
            <a:off x="6152750" y="2493113"/>
            <a:ext cx="651532" cy="241102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success</a:t>
            </a:r>
            <a:endParaRPr lang="en-US" sz="850" dirty="0"/>
          </a:p>
        </p:txBody>
      </p:sp>
      <p:sp>
        <p:nvSpPr>
          <p:cNvPr id="36" name="Text 26"/>
          <p:cNvSpPr/>
          <p:nvPr/>
        </p:nvSpPr>
        <p:spPr>
          <a:xfrm>
            <a:off x="6890007" y="2547584"/>
            <a:ext cx="3175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7007489" y="2493113"/>
            <a:ext cx="582941" cy="241102"/>
          </a:xfrm>
          <a:prstGeom prst="rect">
            <a:avLst/>
          </a:prstGeom>
          <a:solidFill>
            <a:srgbClr val="E53E3E"/>
          </a:solidFill>
        </p:spPr>
      </p:sp>
      <p:sp>
        <p:nvSpPr>
          <p:cNvPr id="38" name="Text 28"/>
          <p:cNvSpPr/>
          <p:nvPr/>
        </p:nvSpPr>
        <p:spPr>
          <a:xfrm>
            <a:off x="7007489" y="2493113"/>
            <a:ext cx="582941" cy="241102"/>
          </a:xfrm>
          <a:prstGeom prst="rect">
            <a:avLst/>
          </a:prstGeom>
          <a:noFill/>
        </p:spPr>
        <p:txBody>
          <a:bodyPr wrap="non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8625"/>
            <a:ext cx="9144000" cy="4643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防幻觉闭环：先规则、再模型、最后校验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3" y="111476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454088"/>
            <a:ext cx="157162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规则优先抽取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71500" y="1718407"/>
            <a:ext cx="15716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MinerU Markdown 表格直接定位指标，确保原始数据忠实度。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1469268"/>
            <a:ext cx="150019" cy="1714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656" y="1114760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93144" y="1454088"/>
            <a:ext cx="157162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DeepSeek 兜底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2293144" y="1718407"/>
            <a:ext cx="15716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规则无法覆盖时，利用大模型语义理解能力进行逻辑推理抽取。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769" y="1469268"/>
            <a:ext cx="150019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14788" y="1454088"/>
            <a:ext cx="157162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审计校验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4014788" y="1718407"/>
            <a:ext cx="15716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基于财务恒等式进行自洽性检查，识别潜在的数字幻觉。</a:t>
            </a:r>
            <a:endParaRPr lang="en-US" sz="750" dirty="0"/>
          </a:p>
        </p:txBody>
      </p:sp>
      <p:sp>
        <p:nvSpPr>
          <p:cNvPr id="14" name="Shape 7"/>
          <p:cNvSpPr/>
          <p:nvPr/>
        </p:nvSpPr>
        <p:spPr>
          <a:xfrm>
            <a:off x="571500" y="2161319"/>
            <a:ext cx="5014913" cy="400050"/>
          </a:xfrm>
          <a:prstGeom prst="rect">
            <a:avLst/>
          </a:prstGeom>
          <a:solidFill>
            <a:srgbClr val="EBF8FF"/>
          </a:solidFill>
        </p:spPr>
      </p:sp>
      <p:sp>
        <p:nvSpPr>
          <p:cNvPr id="15" name="Shape 8"/>
          <p:cNvSpPr/>
          <p:nvPr/>
        </p:nvSpPr>
        <p:spPr>
          <a:xfrm>
            <a:off x="571500" y="2161319"/>
            <a:ext cx="28575" cy="400050"/>
          </a:xfrm>
          <a:prstGeom prst="rect">
            <a:avLst/>
          </a:prstGeom>
          <a:solidFill>
            <a:srgbClr val="3182CE"/>
          </a:solidFill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75619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42975" y="2279191"/>
            <a:ext cx="4375156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528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反思修正链路：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校验失败后，将错误原因反馈给模型进行针对性重试，实现自我纠偏。</a:t>
            </a:r>
            <a:endParaRPr lang="en-US" sz="850" dirty="0"/>
          </a:p>
        </p:txBody>
      </p:sp>
      <p:sp>
        <p:nvSpPr>
          <p:cNvPr id="18" name="Shape 10"/>
          <p:cNvSpPr/>
          <p:nvPr/>
        </p:nvSpPr>
        <p:spPr>
          <a:xfrm>
            <a:off x="571500" y="2668525"/>
            <a:ext cx="5014913" cy="392906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19" name="Shape 11"/>
          <p:cNvSpPr/>
          <p:nvPr/>
        </p:nvSpPr>
        <p:spPr>
          <a:xfrm>
            <a:off x="571500" y="2668525"/>
            <a:ext cx="28575" cy="392906"/>
          </a:xfrm>
          <a:prstGeom prst="rect">
            <a:avLst/>
          </a:prstGeom>
          <a:solidFill>
            <a:srgbClr val="F56565"/>
          </a:solidFill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814972"/>
            <a:ext cx="114300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71538" y="2811400"/>
            <a:ext cx="3917956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5303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拒绝造假出口：达到重试上限仍不自洽时，系统选择返回失败而非伪造结果。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6172200" y="1034393"/>
            <a:ext cx="24003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干扰项过滤矩阵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318357"/>
            <a:ext cx="142875" cy="1143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400800" y="1293354"/>
            <a:ext cx="6858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报告年份干扰</a:t>
            </a:r>
            <a:endParaRPr lang="en-US" sz="8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568388"/>
            <a:ext cx="142875" cy="1143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400800" y="1543385"/>
            <a:ext cx="6858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附注编号混淆</a:t>
            </a:r>
            <a:endParaRPr lang="en-US" sz="8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818419"/>
            <a:ext cx="142875" cy="1143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400800" y="1793416"/>
            <a:ext cx="83185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流动/非流动小计</a:t>
            </a:r>
            <a:endParaRPr lang="en-US" sz="8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068450"/>
            <a:ext cx="142875" cy="1143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400800" y="2043447"/>
            <a:ext cx="9144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归属于母公司权益</a:t>
            </a:r>
            <a:endParaRPr lang="en-US" sz="8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318482"/>
            <a:ext cx="142875" cy="1143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400800" y="2293479"/>
            <a:ext cx="6858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跨页重复表头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862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API 设计：标准、简洁、易于接入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285750" y="1034393"/>
            <a:ext cx="5057775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核心接口定义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85750" y="1298711"/>
            <a:ext cx="5057775" cy="14001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3"/>
          <p:cNvSpPr/>
          <p:nvPr/>
        </p:nvSpPr>
        <p:spPr>
          <a:xfrm>
            <a:off x="285750" y="1298711"/>
            <a:ext cx="2980255" cy="28575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7" name="Shape 4"/>
          <p:cNvSpPr/>
          <p:nvPr/>
        </p:nvSpPr>
        <p:spPr>
          <a:xfrm>
            <a:off x="285750" y="1570174"/>
            <a:ext cx="2980255" cy="14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Text 5"/>
          <p:cNvSpPr/>
          <p:nvPr/>
        </p:nvSpPr>
        <p:spPr>
          <a:xfrm>
            <a:off x="285750" y="1298711"/>
            <a:ext cx="2980255" cy="285750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接口路径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66005" y="1298711"/>
            <a:ext cx="2077520" cy="28575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0" name="Shape 7"/>
          <p:cNvSpPr/>
          <p:nvPr/>
        </p:nvSpPr>
        <p:spPr>
          <a:xfrm>
            <a:off x="3266005" y="1570174"/>
            <a:ext cx="2077520" cy="14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" name="Text 8"/>
          <p:cNvSpPr/>
          <p:nvPr/>
        </p:nvSpPr>
        <p:spPr>
          <a:xfrm>
            <a:off x="3266005" y="1298711"/>
            <a:ext cx="2077520" cy="285750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功能描述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2900" y="1638933"/>
            <a:ext cx="25717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29850" y="1638933"/>
            <a:ext cx="109299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/v1/agent/process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66005" y="1577318"/>
            <a:ext cx="2077520" cy="273248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异步提交文档处理任务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2900" y="1915753"/>
            <a:ext cx="19288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65556" y="1915753"/>
            <a:ext cx="1671638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/v1/agent/task_status/{id}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66005" y="1850566"/>
            <a:ext cx="2077520" cy="276820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查询任务进度与结构化结果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42900" y="2192573"/>
            <a:ext cx="19288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65556" y="2192573"/>
            <a:ext cx="4500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/health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66005" y="2127386"/>
            <a:ext cx="2077520" cy="276820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服务健康检查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42900" y="2469393"/>
            <a:ext cx="19288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65556" y="2469393"/>
            <a:ext cx="32146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/docs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66005" y="2404207"/>
            <a:ext cx="2077520" cy="276820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交互式接口文档</a:t>
            </a:r>
            <a:endParaRPr lang="en-US" sz="8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764073"/>
            <a:ext cx="100013" cy="10001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8625" y="2741749"/>
            <a:ext cx="2472854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 </a:t>
            </a:r>
            <a:r>
              <a:rPr lang="en-US" sz="700" b="1" dirty="0">
                <a:solidFill>
                  <a:srgbClr val="71809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page_ranges</a:t>
            </a: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参数，可显著降低长文档处理成本。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486400" y="1034393"/>
            <a:ext cx="3371850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请求示例 (JSON)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486400" y="1298711"/>
            <a:ext cx="3371850" cy="864394"/>
          </a:xfrm>
          <a:prstGeom prst="rect">
            <a:avLst/>
          </a:prstGeom>
          <a:solidFill>
            <a:srgbClr val="1A202C"/>
          </a:solidFill>
        </p:spPr>
      </p:sp>
      <p:sp>
        <p:nvSpPr>
          <p:cNvPr id="28" name="Shape 24"/>
          <p:cNvSpPr/>
          <p:nvPr/>
        </p:nvSpPr>
        <p:spPr>
          <a:xfrm>
            <a:off x="5486400" y="1298711"/>
            <a:ext cx="28575" cy="864394"/>
          </a:xfrm>
          <a:prstGeom prst="rect">
            <a:avLst/>
          </a:prstGeom>
          <a:solidFill>
            <a:srgbClr val="38B2AC"/>
          </a:solidFill>
        </p:spPr>
      </p:sp>
      <p:sp>
        <p:nvSpPr>
          <p:cNvPr id="29" name="Text 25"/>
          <p:cNvSpPr/>
          <p:nvPr/>
        </p:nvSpPr>
        <p:spPr>
          <a:xfrm>
            <a:off x="5486400" y="1298711"/>
            <a:ext cx="3371850" cy="864394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 </a:t>
            </a:r>
            <a:r>
              <a:rPr lang="en-US" sz="750" dirty="0">
                <a:solidFill>
                  <a:srgbClr val="F6A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"task_name"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"财报核心指标抽取"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F6A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"scenario"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"financial"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F6A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"file_url"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"https://example.com/report.pdf"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F6A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"page_ranges"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"114-130"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F6AD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"target_metrics"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"营业收入"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"资产总计"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"负债合计"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</a:t>
            </a:r>
            <a:r>
              <a:rPr lang="en-US" sz="750" dirty="0">
                <a:solidFill>
                  <a:srgbClr val="68D39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"所有者权益合计"</a:t>
            </a:r>
            <a:r>
              <a:rPr lang="en-US" sz="750" dirty="0">
                <a:solidFill>
                  <a:srgbClr val="A0AEC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] }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真实 PDF 联调结果：中兴通讯 2020 年报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282973"/>
            <a:ext cx="214346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输入文档</a:t>
            </a:r>
            <a:r>
              <a:rPr lang="en-US" sz="9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中兴通讯 2020 年报 PDF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843547" y="1282973"/>
            <a:ext cx="141965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页码范围</a:t>
            </a:r>
            <a:r>
              <a:rPr lang="en-US" sz="9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114 - 130 页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91788" y="1282973"/>
            <a:ext cx="2729582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验证链路</a:t>
            </a:r>
            <a:r>
              <a:rPr lang="en-US" sz="9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MinerU SaaS → Agent → 财务校验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5750" y="1527646"/>
            <a:ext cx="4257675" cy="67865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599084"/>
            <a:ext cx="928576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营业收入 (RMB)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1475" y="1829470"/>
            <a:ext cx="1697645" cy="291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82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101,450,670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00575" y="1527646"/>
            <a:ext cx="4257675" cy="67865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86300" y="1599084"/>
            <a:ext cx="928576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资产总计 (RMB)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86300" y="1829470"/>
            <a:ext cx="1697645" cy="291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82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150,634,906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5750" y="2249165"/>
            <a:ext cx="4257675" cy="67865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" y="2320603"/>
            <a:ext cx="928576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负债合计 (RMB)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1475" y="2550988"/>
            <a:ext cx="1697645" cy="291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82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104,512,400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00575" y="2249165"/>
            <a:ext cx="4257675" cy="67865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6300" y="2320603"/>
            <a:ext cx="131433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所有者权益合计 (RMB)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86300" y="2550988"/>
            <a:ext cx="1543301" cy="291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82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46,122,506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85750" y="2999259"/>
            <a:ext cx="8572500" cy="342900"/>
          </a:xfrm>
          <a:prstGeom prst="rect">
            <a:avLst/>
          </a:prstGeom>
          <a:solidFill>
            <a:srgbClr val="38B2AC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87" y="3056409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36912" y="3072482"/>
            <a:ext cx="3427214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150,634,906 = 104,512,400 + 46,122,506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949851" y="3069803"/>
            <a:ext cx="1071563" cy="201811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23" name="Text 19"/>
          <p:cNvSpPr/>
          <p:nvPr/>
        </p:nvSpPr>
        <p:spPr>
          <a:xfrm>
            <a:off x="5949851" y="3069803"/>
            <a:ext cx="1071563" cy="201811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财务恒等式校验通过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公网 API 演示与验证：端到端能力闭环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34418"/>
            <a:ext cx="4529138" cy="2807494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234418"/>
            <a:ext cx="4517222" cy="392906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6" name="Shape 3"/>
          <p:cNvSpPr/>
          <p:nvPr/>
        </p:nvSpPr>
        <p:spPr>
          <a:xfrm>
            <a:off x="571500" y="1613036"/>
            <a:ext cx="4517222" cy="142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" name="Shape 4"/>
          <p:cNvSpPr/>
          <p:nvPr/>
        </p:nvSpPr>
        <p:spPr>
          <a:xfrm>
            <a:off x="1114425" y="1305855"/>
            <a:ext cx="3859997" cy="23574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4425" y="1305855"/>
            <a:ext cx="3859997" cy="235744"/>
          </a:xfrm>
          <a:prstGeom prst="rect">
            <a:avLst/>
          </a:prstGeom>
          <a:noFill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https://guitar-captured-decorating-sims.trycloudflare.com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714375" y="1813061"/>
            <a:ext cx="428625" cy="155377"/>
          </a:xfrm>
          <a:prstGeom prst="rect">
            <a:avLst/>
          </a:prstGeom>
          <a:solidFill>
            <a:srgbClr val="EBF8FF"/>
          </a:solidFill>
        </p:spPr>
      </p:sp>
      <p:sp>
        <p:nvSpPr>
          <p:cNvPr id="10" name="Text 7"/>
          <p:cNvSpPr/>
          <p:nvPr/>
        </p:nvSpPr>
        <p:spPr>
          <a:xfrm>
            <a:off x="714375" y="1813061"/>
            <a:ext cx="428625" cy="155377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228725" y="1827349"/>
            <a:ext cx="3117047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345772" y="1818419"/>
            <a:ext cx="60007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服务基础信息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14375" y="2118457"/>
            <a:ext cx="428625" cy="155377"/>
          </a:xfrm>
          <a:prstGeom prst="rect">
            <a:avLst/>
          </a:prstGeom>
          <a:solidFill>
            <a:srgbClr val="EBF8FF"/>
          </a:solidFill>
        </p:spPr>
      </p:sp>
      <p:sp>
        <p:nvSpPr>
          <p:cNvPr id="14" name="Text 11"/>
          <p:cNvSpPr/>
          <p:nvPr/>
        </p:nvSpPr>
        <p:spPr>
          <a:xfrm>
            <a:off x="714375" y="2118457"/>
            <a:ext cx="428625" cy="155377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28725" y="2132744"/>
            <a:ext cx="2794546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/docs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023271" y="2123815"/>
            <a:ext cx="922576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交互式文档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4375" y="2423852"/>
            <a:ext cx="428625" cy="155377"/>
          </a:xfrm>
          <a:prstGeom prst="rect">
            <a:avLst/>
          </a:prstGeom>
          <a:solidFill>
            <a:srgbClr val="EBF8FF"/>
          </a:solidFill>
        </p:spPr>
      </p:sp>
      <p:sp>
        <p:nvSpPr>
          <p:cNvPr id="18" name="Text 15"/>
          <p:cNvSpPr/>
          <p:nvPr/>
        </p:nvSpPr>
        <p:spPr>
          <a:xfrm>
            <a:off x="714375" y="2423852"/>
            <a:ext cx="428625" cy="155377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228725" y="2438140"/>
            <a:ext cx="3117047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/health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345772" y="2429210"/>
            <a:ext cx="60007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系统健康检查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14375" y="2729247"/>
            <a:ext cx="428625" cy="155377"/>
          </a:xfrm>
          <a:prstGeom prst="rect">
            <a:avLst/>
          </a:prstGeom>
          <a:solidFill>
            <a:srgbClr val="EBF8FF"/>
          </a:solidFill>
        </p:spPr>
      </p:sp>
      <p:sp>
        <p:nvSpPr>
          <p:cNvPr id="22" name="Text 19"/>
          <p:cNvSpPr/>
          <p:nvPr/>
        </p:nvSpPr>
        <p:spPr>
          <a:xfrm>
            <a:off x="714375" y="2729247"/>
            <a:ext cx="428625" cy="155377"/>
          </a:xfrm>
          <a:prstGeom prst="rect">
            <a:avLst/>
          </a:prstGeom>
          <a:noFill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182C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228725" y="2743535"/>
            <a:ext cx="2917022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/v1/agent/process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145747" y="2734605"/>
            <a:ext cx="80010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提交文档处理任务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345897" y="1234418"/>
            <a:ext cx="3226603" cy="1264444"/>
          </a:xfrm>
          <a:prstGeom prst="rect">
            <a:avLst/>
          </a:prstGeom>
          <a:solidFill>
            <a:srgbClr val="F0FFF4"/>
          </a:solidFill>
          <a:ln w="18288">
            <a:solidFill>
              <a:srgbClr val="38B2AC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735" y="1393366"/>
            <a:ext cx="342900" cy="3429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8772" y="1857710"/>
            <a:ext cx="2940853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4E5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公网端到端验证通过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8772" y="2163105"/>
            <a:ext cx="2940853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8B2A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已完成真实财报 PDF 链路测试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345897" y="2598874"/>
            <a:ext cx="3226603" cy="14144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74484" y="2784611"/>
            <a:ext cx="6858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任务提交状态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053853" y="2784611"/>
            <a:ext cx="39006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8B2A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SUCCESS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5474484" y="3070361"/>
            <a:ext cx="609619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Job ID 生成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608066" y="3070361"/>
            <a:ext cx="83584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job_20240531_01</a:t>
            </a:r>
            <a:endParaRPr lang="en-US" sz="650" dirty="0"/>
          </a:p>
        </p:txBody>
      </p:sp>
      <p:sp>
        <p:nvSpPr>
          <p:cNvPr id="34" name="Text 30"/>
          <p:cNvSpPr/>
          <p:nvPr/>
        </p:nvSpPr>
        <p:spPr>
          <a:xfrm>
            <a:off x="5474484" y="3356111"/>
            <a:ext cx="571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全链路耗时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830973" y="3356111"/>
            <a:ext cx="612939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~38 Seconds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5474484" y="3641861"/>
            <a:ext cx="8001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财务恒等式校验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109579" y="3641861"/>
            <a:ext cx="33433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8B2A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PASSED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测试与稳定性：本地、并发、真实链路均已通过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25823"/>
            <a:ext cx="8001000" cy="188059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225823"/>
            <a:ext cx="2000250" cy="330398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6" name="Text 3"/>
          <p:cNvSpPr/>
          <p:nvPr/>
        </p:nvSpPr>
        <p:spPr>
          <a:xfrm>
            <a:off x="571500" y="1225823"/>
            <a:ext cx="2000250" cy="330398"/>
          </a:xfrm>
          <a:prstGeom prst="rect">
            <a:avLst/>
          </a:prstGeom>
          <a:noFill/>
        </p:spPr>
        <p:txBody>
          <a:bodyPr wrap="square" lIns="170053" tIns="85090" rIns="170053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测试项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71750" y="1225823"/>
            <a:ext cx="4400550" cy="330398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8" name="Text 5"/>
          <p:cNvSpPr/>
          <p:nvPr/>
        </p:nvSpPr>
        <p:spPr>
          <a:xfrm>
            <a:off x="2571750" y="1225823"/>
            <a:ext cx="4400550" cy="330398"/>
          </a:xfrm>
          <a:prstGeom prst="rect">
            <a:avLst/>
          </a:prstGeom>
          <a:noFill/>
        </p:spPr>
        <p:txBody>
          <a:bodyPr wrap="square" lIns="170053" tIns="85090" rIns="170053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验证内容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972300" y="1225823"/>
            <a:ext cx="1600200" cy="330398"/>
          </a:xfrm>
          <a:prstGeom prst="rect">
            <a:avLst/>
          </a:prstGeom>
          <a:solidFill>
            <a:srgbClr val="3182CE"/>
          </a:solidFill>
        </p:spPr>
      </p:sp>
      <p:sp>
        <p:nvSpPr>
          <p:cNvPr id="10" name="Text 7"/>
          <p:cNvSpPr/>
          <p:nvPr/>
        </p:nvSpPr>
        <p:spPr>
          <a:xfrm>
            <a:off x="6972300" y="1225823"/>
            <a:ext cx="1600200" cy="330398"/>
          </a:xfrm>
          <a:prstGeom prst="rect">
            <a:avLst/>
          </a:prstGeom>
          <a:noFill/>
        </p:spPr>
        <p:txBody>
          <a:bodyPr wrap="square" lIns="170053" tIns="85090" rIns="170053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测试结果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4375" y="1627659"/>
            <a:ext cx="457200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本地烟测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71750" y="1556221"/>
            <a:ext cx="4400550" cy="253603"/>
          </a:xfrm>
          <a:prstGeom prst="rect">
            <a:avLst/>
          </a:prstGeom>
          <a:noFill/>
        </p:spPr>
        <p:txBody>
          <a:bodyPr wrap="square" lIns="170053" tIns="51054" rIns="170053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基础功能、异步状态流转、任务持久化落盘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1624087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6625" y="1599084"/>
            <a:ext cx="228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2A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14375" y="1884834"/>
            <a:ext cx="812769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单元验证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571750" y="1809824"/>
            <a:ext cx="4400550" cy="257175"/>
          </a:xfrm>
          <a:prstGeom prst="rect">
            <a:avLst/>
          </a:prstGeom>
          <a:noFill/>
        </p:spPr>
        <p:txBody>
          <a:bodyPr wrap="square" lIns="170053" tIns="51054" rIns="170053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下载兼容性、财务恒等式校验逻辑</a:t>
            </a:r>
            <a:endParaRPr lang="en-US" sz="8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1881262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86625" y="1856259"/>
            <a:ext cx="228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2A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14375" y="2142009"/>
            <a:ext cx="571500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并发稳定性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571750" y="2066999"/>
            <a:ext cx="4400550" cy="257175"/>
          </a:xfrm>
          <a:prstGeom prst="rect">
            <a:avLst/>
          </a:prstGeom>
          <a:noFill/>
        </p:spPr>
        <p:txBody>
          <a:bodyPr wrap="square" lIns="170053" tIns="51054" rIns="170053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个并发任务压力测试、过期任务自动清理机制</a:t>
            </a:r>
            <a:endParaRPr lang="en-US" sz="8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2138437"/>
            <a:ext cx="114300" cy="114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6625" y="2113434"/>
            <a:ext cx="228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2A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714375" y="2399184"/>
            <a:ext cx="749312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真实 PDF 联调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2571750" y="2324174"/>
            <a:ext cx="4400550" cy="257175"/>
          </a:xfrm>
          <a:prstGeom prst="rect">
            <a:avLst/>
          </a:prstGeom>
          <a:noFill/>
        </p:spPr>
        <p:txBody>
          <a:bodyPr wrap="square" lIns="170053" tIns="51054" rIns="170053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MinerU SaaS + Agent 外部全链路集成验证</a:t>
            </a:r>
            <a:endParaRPr lang="en-US" sz="8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2395612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86625" y="2370609"/>
            <a:ext cx="228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2A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714375" y="2656359"/>
            <a:ext cx="711250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公网 API 验证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2571750" y="2581349"/>
            <a:ext cx="4400550" cy="257175"/>
          </a:xfrm>
          <a:prstGeom prst="rect">
            <a:avLst/>
          </a:prstGeom>
          <a:noFill/>
        </p:spPr>
        <p:txBody>
          <a:bodyPr wrap="square" lIns="170053" tIns="51054" rIns="170053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Tunnel → API → MinerU → Agent 端到端验证</a:t>
            </a:r>
            <a:endParaRPr lang="en-US" sz="8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2652787"/>
            <a:ext cx="114300" cy="1143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86625" y="2627784"/>
            <a:ext cx="228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2A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714375" y="2913534"/>
            <a:ext cx="457200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健康检查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2571750" y="2838524"/>
            <a:ext cx="4400550" cy="257175"/>
          </a:xfrm>
          <a:prstGeom prst="rect">
            <a:avLst/>
          </a:prstGeom>
          <a:noFill/>
        </p:spPr>
        <p:txBody>
          <a:bodyPr wrap="square" lIns="170053" tIns="51054" rIns="170053" bIns="51054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系统自检接口 /health 持续返回 healthy 状态</a:t>
            </a:r>
            <a:endParaRPr lang="en-US" sz="8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5" y="2909962"/>
            <a:ext cx="114300" cy="1143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86625" y="2884959"/>
            <a:ext cx="2286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8B2A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4651977" y="3170709"/>
            <a:ext cx="1525916" cy="303609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651977" y="3170709"/>
            <a:ext cx="1525916" cy="303609"/>
          </a:xfrm>
          <a:prstGeom prst="rect">
            <a:avLst/>
          </a:prstGeom>
          <a:noFill/>
        </p:spPr>
        <p:txBody>
          <a:bodyPr wrap="square" lIns="119126" tIns="68072" rIns="119126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parallel_jobs = 8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6320768" y="3170709"/>
            <a:ext cx="1680232" cy="303609"/>
          </a:xfrm>
          <a:prstGeom prst="rect">
            <a:avLst/>
          </a:prstGeom>
          <a:solidFill>
            <a:srgbClr val="EBF8FF"/>
          </a:solidFill>
          <a:ln w="9144">
            <a:solidFill>
              <a:srgbClr val="BEE3F8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320768" y="3170709"/>
            <a:ext cx="1680232" cy="303609"/>
          </a:xfrm>
          <a:prstGeom prst="rect">
            <a:avLst/>
          </a:prstGeom>
          <a:noFill/>
        </p:spPr>
        <p:txBody>
          <a:bodyPr wrap="square" lIns="119126" tIns="68072" rIns="119126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removed_expired =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572500" cy="41433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02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总结：高准确、可验证、可复现的数据智能体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100" y="1241896"/>
            <a:ext cx="300038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677665"/>
            <a:ext cx="2581266" cy="305395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数据理解与结构化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4498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2950" y="2025923"/>
            <a:ext cx="1346262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深度集成 MinerU 解析引擎</a:t>
            </a:r>
            <a:endParaRPr lang="en-US" sz="8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4523"/>
            <a:ext cx="11430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2950" y="2225948"/>
            <a:ext cx="149890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自动化 JSON 指标输出</a:t>
            </a:r>
            <a:endParaRPr lang="en-US" sz="8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4548"/>
            <a:ext cx="11430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42950" y="2425973"/>
            <a:ext cx="1257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复杂文档版式还原与清洗</a:t>
            </a:r>
            <a:endParaRPr lang="en-US" sz="8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091" y="1241896"/>
            <a:ext cx="385763" cy="3429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281353" y="1677665"/>
            <a:ext cx="2581266" cy="305395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复杂任务规划</a:t>
            </a:r>
            <a:endParaRPr lang="en-US" sz="12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353" y="2054498"/>
            <a:ext cx="114300" cy="1143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452803" y="2025923"/>
            <a:ext cx="1257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异步任务编排与状态管理</a:t>
            </a:r>
            <a:endParaRPr lang="en-US" sz="8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353" y="2254523"/>
            <a:ext cx="114300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452803" y="2225948"/>
            <a:ext cx="1273262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规则优先 + 模型兜底路由</a:t>
            </a:r>
            <a:endParaRPr lang="en-US" sz="85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353" y="2454548"/>
            <a:ext cx="114300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3452803" y="2425973"/>
            <a:ext cx="12573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审计驱动的反思重试机制</a:t>
            </a:r>
            <a:endParaRPr lang="en-US" sz="850" dirty="0"/>
          </a:p>
        </p:txBody>
      </p:sp>
      <p:sp>
        <p:nvSpPr>
          <p:cNvPr id="20" name="Text 9"/>
          <p:cNvSpPr/>
          <p:nvPr/>
        </p:nvSpPr>
        <p:spPr>
          <a:xfrm>
            <a:off x="5991206" y="1677665"/>
            <a:ext cx="2581266" cy="305395"/>
          </a:xfrm>
          <a:prstGeom prst="rect">
            <a:avLst/>
          </a:prstGeom>
          <a:noFill/>
        </p:spPr>
        <p:txBody>
          <a:bodyPr wrap="square" lIns="0" tIns="0" rIns="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稳定性与综合评测</a:t>
            </a:r>
            <a:endParaRPr lang="en-US" sz="12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206" y="2054498"/>
            <a:ext cx="114300" cy="1143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162656" y="2025923"/>
            <a:ext cx="137160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任务持久化与并发压力测试</a:t>
            </a:r>
            <a:endParaRPr lang="en-US" sz="8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206" y="2254523"/>
            <a:ext cx="114300" cy="1143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162656" y="2225948"/>
            <a:ext cx="1435112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真实长文档 PDF 全链路验证</a:t>
            </a:r>
            <a:endParaRPr lang="en-US" sz="85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206" y="2454548"/>
            <a:ext cx="114300" cy="11430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6162656" y="2425973"/>
            <a:ext cx="127644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公网 API 端到端接入能力</a:t>
            </a:r>
            <a:endParaRPr lang="en-US" sz="850" dirty="0"/>
          </a:p>
        </p:txBody>
      </p:sp>
      <p:sp>
        <p:nvSpPr>
          <p:cNvPr id="27" name="Shape 13"/>
          <p:cNvSpPr/>
          <p:nvPr/>
        </p:nvSpPr>
        <p:spPr>
          <a:xfrm>
            <a:off x="571500" y="2754585"/>
            <a:ext cx="8001000" cy="817959"/>
          </a:xfrm>
          <a:prstGeom prst="rect">
            <a:avLst/>
          </a:prstGeom>
          <a:solidFill>
            <a:srgbClr val="1A202C"/>
          </a:solidFill>
        </p:spPr>
      </p:sp>
      <p:sp>
        <p:nvSpPr>
          <p:cNvPr id="28" name="Text 14"/>
          <p:cNvSpPr/>
          <p:nvPr/>
        </p:nvSpPr>
        <p:spPr>
          <a:xfrm>
            <a:off x="700088" y="2883173"/>
            <a:ext cx="7743825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高准确 · 可验证 · 可复现 · 可评测</a:t>
            </a:r>
            <a:endParaRPr lang="en-US" sz="1600" dirty="0"/>
          </a:p>
        </p:txBody>
      </p:sp>
      <p:sp>
        <p:nvSpPr>
          <p:cNvPr id="29" name="Text 15"/>
          <p:cNvSpPr/>
          <p:nvPr/>
        </p:nvSpPr>
        <p:spPr>
          <a:xfrm>
            <a:off x="700088" y="3256434"/>
            <a:ext cx="7743825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构建专业、严谨、防幻觉的财务数据智能处理框架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67460" y="465455"/>
            <a:ext cx="66097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GitHub </a:t>
            </a:r>
            <a:r>
              <a:rPr lang="zh-CN" altLang="en-US"/>
              <a:t>仓库链接</a:t>
            </a:r>
            <a:endParaRPr lang="zh-CN" altLang="en-US"/>
          </a:p>
          <a:p>
            <a:r>
              <a:rPr lang="en-US" altLang="zh-CN"/>
              <a:t>https://github.com/TianZaiShuiZhong/MU2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服务地址：</a:t>
            </a:r>
            <a:endParaRPr lang="zh-CN" altLang="en-US"/>
          </a:p>
          <a:p>
            <a:r>
              <a:rPr lang="en-US" altLang="zh-CN"/>
              <a:t>https://guitar-captured-decorating-sims.trycloudflare.com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接口文档：</a:t>
            </a:r>
            <a:endParaRPr lang="zh-CN" altLang="en-US"/>
          </a:p>
          <a:p>
            <a:r>
              <a:rPr lang="en-US" altLang="zh-CN"/>
              <a:t>https://guitar-captured-decorating-sims.trycloudflare.com/docs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健康检查：</a:t>
            </a:r>
            <a:endParaRPr lang="zh-CN" altLang="en-US"/>
          </a:p>
          <a:p>
            <a:r>
              <a:rPr lang="en-US" altLang="zh-CN"/>
              <a:t>https://guitar-captured-decorating-sims.trycloudflare.com/health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267460" y="3843655"/>
            <a:ext cx="69322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服务使用：是在我自己本机启动 + 临时隧道（</a:t>
            </a:r>
            <a:r>
              <a:rPr lang="en-US" altLang="zh-CN"/>
              <a:t>Cloudflare Tunnel </a:t>
            </a:r>
            <a:r>
              <a:rPr lang="zh-CN" altLang="en-US"/>
              <a:t>），这段时间不停机，但是为了防止服务器地址链接意外变动，在</a:t>
            </a:r>
            <a:r>
              <a:rPr lang="en-US" altLang="zh-CN"/>
              <a:t>GitHub</a:t>
            </a:r>
            <a:r>
              <a:rPr lang="zh-CN" altLang="en-US"/>
              <a:t>仓库</a:t>
            </a:r>
            <a:r>
              <a:rPr lang="en-US" altLang="zh-CN"/>
              <a:t>README</a:t>
            </a:r>
            <a:r>
              <a:rPr lang="zh-CN" altLang="en-US"/>
              <a:t>会更新最新</a:t>
            </a:r>
            <a:r>
              <a:rPr lang="zh-CN" altLang="en-US"/>
              <a:t>的服务地址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WPS 演示</Application>
  <PresentationFormat>On-screen Show (16:9)</PresentationFormat>
  <Paragraphs>375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0" baseType="lpstr">
      <vt:lpstr>Arial</vt:lpstr>
      <vt:lpstr>宋体</vt:lpstr>
      <vt:lpstr>Wingdings</vt:lpstr>
      <vt:lpstr>Inter ExtraBold</vt:lpstr>
      <vt:lpstr>Segoe Print</vt:lpstr>
      <vt:lpstr>Inter ExtraBold</vt:lpstr>
      <vt:lpstr>Inter ExtraBold</vt:lpstr>
      <vt:lpstr>Inter</vt:lpstr>
      <vt:lpstr>Inter</vt:lpstr>
      <vt:lpstr>Inter</vt:lpstr>
      <vt:lpstr>Inter SemiBold</vt:lpstr>
      <vt:lpstr>Inter SemiBold</vt:lpstr>
      <vt:lpstr>Inter SemiBold</vt:lpstr>
      <vt:lpstr>Inter Bold</vt:lpstr>
      <vt:lpstr>Inter Bold</vt:lpstr>
      <vt:lpstr>Inter Bold</vt:lpstr>
      <vt:lpstr>Courier New</vt:lpstr>
      <vt:lpstr>Courier New</vt:lpstr>
      <vt:lpstr>Courier New</vt:lpstr>
      <vt:lpstr>monospace</vt:lpstr>
      <vt:lpstr>monospace</vt:lpstr>
      <vt:lpstr>monospace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吾࿆ྂ有࿆ྂ三࿆ྂ梦࿆ྂ</cp:lastModifiedBy>
  <cp:revision>2</cp:revision>
  <dcterms:created xsi:type="dcterms:W3CDTF">2026-05-31T11:45:00Z</dcterms:created>
  <dcterms:modified xsi:type="dcterms:W3CDTF">2026-05-31T11:53:49Z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BA21ED9179CA4F669F34097C89A9CC84_12</vt:lpwstr>
  </property>
</Properties>
</file>
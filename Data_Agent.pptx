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25.png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2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285875"/>
            <a:ext cx="1929064" cy="28575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" name="Text 1"/>
          <p:cNvSpPr/>
          <p:nvPr/>
        </p:nvSpPr>
        <p:spPr>
          <a:xfrm>
            <a:off x="571500" y="1285875"/>
            <a:ext cx="1929064" cy="285750"/>
          </a:xfrm>
          <a:prstGeom prst="rect">
            <a:avLst/>
          </a:prstGeom>
          <a:noFill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智能进化·Agent 能力评测赛道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71500" y="1857375"/>
            <a:ext cx="5372100" cy="5657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0F172A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智能进化 Data Agent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571500" y="2594604"/>
            <a:ext cx="5372100" cy="617934"/>
          </a:xfrm>
          <a:prstGeom prst="rect">
            <a:avLst/>
          </a:prstGeom>
          <a:noFill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基于 MinerU + DeepSeek 的</a:t>
            </a:r>
            <a:r>
              <a:rPr 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70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财报结构化与防幻觉系统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71500" y="3641164"/>
            <a:ext cx="742950" cy="28575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" name="Text 5"/>
          <p:cNvSpPr/>
          <p:nvPr/>
        </p:nvSpPr>
        <p:spPr>
          <a:xfrm>
            <a:off x="571500" y="3641164"/>
            <a:ext cx="742950" cy="285750"/>
          </a:xfrm>
          <a:prstGeom prst="rect">
            <a:avLst/>
          </a:prstGeom>
          <a:noFill/>
        </p:spPr>
        <p:txBody>
          <a:bodyPr wrap="none" lIns="136017" tIns="68072" rIns="136017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文档解析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428750" y="3641164"/>
            <a:ext cx="742950" cy="28575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0" name="Text 7"/>
          <p:cNvSpPr/>
          <p:nvPr/>
        </p:nvSpPr>
        <p:spPr>
          <a:xfrm>
            <a:off x="1428750" y="3641164"/>
            <a:ext cx="742950" cy="285750"/>
          </a:xfrm>
          <a:prstGeom prst="rect">
            <a:avLst/>
          </a:prstGeom>
          <a:noFill/>
        </p:spPr>
        <p:txBody>
          <a:bodyPr wrap="none" lIns="136017" tIns="68072" rIns="136017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任务规划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286000" y="3641164"/>
            <a:ext cx="871538" cy="28575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2" name="Text 9"/>
          <p:cNvSpPr/>
          <p:nvPr/>
        </p:nvSpPr>
        <p:spPr>
          <a:xfrm>
            <a:off x="2286000" y="3641164"/>
            <a:ext cx="871538" cy="285750"/>
          </a:xfrm>
          <a:prstGeom prst="rect">
            <a:avLst/>
          </a:prstGeom>
          <a:noFill/>
        </p:spPr>
        <p:txBody>
          <a:bodyPr wrap="none" lIns="136017" tIns="68072" rIns="136017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结构化抽取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71838" y="3641164"/>
            <a:ext cx="728774" cy="28575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4" name="Text 11"/>
          <p:cNvSpPr/>
          <p:nvPr/>
        </p:nvSpPr>
        <p:spPr>
          <a:xfrm>
            <a:off x="3271838" y="3641164"/>
            <a:ext cx="728774" cy="285750"/>
          </a:xfrm>
          <a:prstGeom prst="rect">
            <a:avLst/>
          </a:prstGeom>
          <a:noFill/>
        </p:spPr>
        <p:txBody>
          <a:bodyPr wrap="none" lIns="136017" tIns="68072" rIns="136017" bIns="68072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API 评测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6" name="Shape 13"/>
          <p:cNvSpPr/>
          <p:nvPr/>
        </p:nvSpPr>
        <p:spPr>
          <a:xfrm>
            <a:off x="7186613" y="732234"/>
            <a:ext cx="714375" cy="714375"/>
          </a:xfrm>
          <a:prstGeom prst="rect">
            <a:avLst/>
          </a:prstGeom>
          <a:solidFill>
            <a:srgbClr val="FFFFFF">
              <a:alpha val="10000"/>
            </a:srgbClr>
          </a:solidFill>
          <a:ln w="18288">
            <a:solidFill>
              <a:srgbClr val="0D948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644" y="946547"/>
            <a:ext cx="214313" cy="285750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791" y="1737717"/>
            <a:ext cx="150019" cy="17145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186613" y="2214563"/>
            <a:ext cx="714375" cy="714375"/>
          </a:xfrm>
          <a:prstGeom prst="rect">
            <a:avLst/>
          </a:prstGeom>
          <a:solidFill>
            <a:srgbClr val="0D9488"/>
          </a:solidFill>
          <a:ln w="18288">
            <a:solidFill>
              <a:srgbClr val="0D9488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206" y="2428875"/>
            <a:ext cx="357188" cy="285750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791" y="3220045"/>
            <a:ext cx="150019" cy="17145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7186613" y="3696891"/>
            <a:ext cx="714375" cy="714375"/>
          </a:xfrm>
          <a:prstGeom prst="rect">
            <a:avLst/>
          </a:prstGeom>
          <a:solidFill>
            <a:srgbClr val="FFFFFF">
              <a:alpha val="10000"/>
            </a:srgbClr>
          </a:solidFill>
          <a:ln w="18288">
            <a:solidFill>
              <a:srgbClr val="0D9488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5206" y="3911203"/>
            <a:ext cx="357188" cy="2857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71500" y="4559498"/>
            <a:ext cx="775041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MinerU SaaS</a:t>
            </a:r>
            <a:endParaRPr lang="en-US" sz="850" dirty="0"/>
          </a:p>
        </p:txBody>
      </p:sp>
      <p:sp>
        <p:nvSpPr>
          <p:cNvPr id="25" name="Text 17"/>
          <p:cNvSpPr/>
          <p:nvPr/>
        </p:nvSpPr>
        <p:spPr>
          <a:xfrm>
            <a:off x="1489416" y="4559498"/>
            <a:ext cx="501848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FastAPI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2134140" y="4559498"/>
            <a:ext cx="660908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Data Agent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2937923" y="4559498"/>
            <a:ext cx="895424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 财务恒等式校验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赛题要求：不是单次抽取，而是可评测的数据智能体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73373"/>
            <a:ext cx="128588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85813" y="1243013"/>
            <a:ext cx="1028700" cy="232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赛题硬性要求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1868091"/>
            <a:ext cx="3571875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工具链限制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71500" y="2118122"/>
            <a:ext cx="357187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必须使用 MinerU 工具链处理文档或网页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571500" y="2639616"/>
            <a:ext cx="3571875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评测接入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71500" y="2889647"/>
            <a:ext cx="357187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需要提供可调用 API，支持组委会自动评测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571500" y="3411141"/>
            <a:ext cx="3571875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交付完整度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71500" y="3661172"/>
            <a:ext cx="357187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输出结构化结果、接口说明、测试结果和日志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994" y="1809155"/>
            <a:ext cx="100013" cy="11430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994" y="2494955"/>
            <a:ext cx="100013" cy="11430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994" y="3180755"/>
            <a:ext cx="100013" cy="11430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625" y="1273373"/>
            <a:ext cx="171450" cy="1714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257800" y="1243013"/>
            <a:ext cx="1200150" cy="2321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本项目对应实现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5000625" y="1868091"/>
            <a:ext cx="3571875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MinerU SaaS 集成</a:t>
            </a:r>
            <a:endParaRPr lang="en-US" sz="1000" dirty="0"/>
          </a:p>
        </p:txBody>
      </p:sp>
      <p:sp>
        <p:nvSpPr>
          <p:cNvPr id="18" name="Text 10"/>
          <p:cNvSpPr/>
          <p:nvPr/>
        </p:nvSpPr>
        <p:spPr>
          <a:xfrm>
            <a:off x="5000625" y="2118122"/>
            <a:ext cx="357187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深度集成 MinerU 解析能力，将 PDF 转为 Markdown</a:t>
            </a:r>
            <a:endParaRPr lang="en-US" sz="850" dirty="0"/>
          </a:p>
        </p:txBody>
      </p:sp>
      <p:sp>
        <p:nvSpPr>
          <p:cNvPr id="19" name="Text 11"/>
          <p:cNvSpPr/>
          <p:nvPr/>
        </p:nvSpPr>
        <p:spPr>
          <a:xfrm>
            <a:off x="5000625" y="2639616"/>
            <a:ext cx="3571875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FastAPI 异步接口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5000625" y="2889647"/>
            <a:ext cx="357187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标准 RESTful API，支持任务提交与状态查询</a:t>
            </a:r>
            <a:endParaRPr lang="en-US" sz="850" dirty="0"/>
          </a:p>
        </p:txBody>
      </p:sp>
      <p:sp>
        <p:nvSpPr>
          <p:cNvPr id="21" name="Text 13"/>
          <p:cNvSpPr/>
          <p:nvPr/>
        </p:nvSpPr>
        <p:spPr>
          <a:xfrm>
            <a:off x="5000625" y="3411141"/>
            <a:ext cx="3571875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全栈交付物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5000625" y="3661172"/>
            <a:ext cx="357187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包含部署文档、技术报告、真实联调日志与脚本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财报抽取是文档智能的高风险场景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94830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891308"/>
            <a:ext cx="2381241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版式复杂性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71500" y="2237780"/>
            <a:ext cx="2381241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财报 PDF 页数多、表格极其密集，存在大量跨页表格和合并单元格，传统 OCR 难以精准还原结构。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66" y="1494830"/>
            <a:ext cx="17145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81366" y="1891308"/>
            <a:ext cx="2381241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数字高密度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3381366" y="2237780"/>
            <a:ext cx="2381241" cy="4114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附注编号、年份、单位、流动/非流动小计等干扰项极多，极易发生误抽或混淆。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31" y="1494830"/>
            <a:ext cx="28575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91231" y="1891308"/>
            <a:ext cx="2381241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防幻觉要求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191231" y="2237780"/>
            <a:ext cx="2381241" cy="6171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大模型直接抽取常出现“数字幻觉”，结果必须通过严格的财务勾稽关系验证方可信赖。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571500" y="3426433"/>
            <a:ext cx="8001000" cy="964406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4" name="Text 8"/>
          <p:cNvSpPr/>
          <p:nvPr/>
        </p:nvSpPr>
        <p:spPr>
          <a:xfrm>
            <a:off x="571500" y="3640745"/>
            <a:ext cx="8001000" cy="1553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kern="0" spc="2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核心校验逻辑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571500" y="3867559"/>
            <a:ext cx="8001000" cy="30896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资产总计 = 负债合计 + 所有者权益合计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5725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系统架构：MinerU 负责看清文档，Agent 负责理解和校验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000125" y="1474969"/>
            <a:ext cx="7143750" cy="3286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00125" y="1474969"/>
            <a:ext cx="1428750" cy="31432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6" name="Text 3"/>
          <p:cNvSpPr/>
          <p:nvPr/>
        </p:nvSpPr>
        <p:spPr>
          <a:xfrm>
            <a:off x="1000125" y="1474969"/>
            <a:ext cx="1428750" cy="314325"/>
          </a:xfrm>
          <a:prstGeom prst="rect">
            <a:avLst/>
          </a:prstGeom>
          <a:noFill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接入层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88" y="1639276"/>
            <a:ext cx="160734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875359" y="1630346"/>
            <a:ext cx="1102733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FastAPI REST API</a:t>
            </a:r>
            <a:endParaRPr lang="en-US" sz="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405" y="1639276"/>
            <a:ext cx="128588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92430" y="1617844"/>
            <a:ext cx="64293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鉴权与限流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422" y="1825013"/>
            <a:ext cx="107156" cy="14287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1000125" y="2003607"/>
            <a:ext cx="7143750" cy="32861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7"/>
          <p:cNvSpPr/>
          <p:nvPr/>
        </p:nvSpPr>
        <p:spPr>
          <a:xfrm>
            <a:off x="1000125" y="2003607"/>
            <a:ext cx="7143750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4" name="Shape 8"/>
          <p:cNvSpPr/>
          <p:nvPr/>
        </p:nvSpPr>
        <p:spPr>
          <a:xfrm>
            <a:off x="8136731" y="2003607"/>
            <a:ext cx="7144" cy="328613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5" name="Shape 9"/>
          <p:cNvSpPr/>
          <p:nvPr/>
        </p:nvSpPr>
        <p:spPr>
          <a:xfrm>
            <a:off x="1000125" y="2325076"/>
            <a:ext cx="7143750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6" name="Shape 10"/>
          <p:cNvSpPr/>
          <p:nvPr/>
        </p:nvSpPr>
        <p:spPr>
          <a:xfrm>
            <a:off x="1000125" y="2003607"/>
            <a:ext cx="42863" cy="328613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Shape 11"/>
          <p:cNvSpPr/>
          <p:nvPr/>
        </p:nvSpPr>
        <p:spPr>
          <a:xfrm>
            <a:off x="1000125" y="2003607"/>
            <a:ext cx="1428750" cy="31432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8" name="Text 12"/>
          <p:cNvSpPr/>
          <p:nvPr/>
        </p:nvSpPr>
        <p:spPr>
          <a:xfrm>
            <a:off x="1000125" y="2003607"/>
            <a:ext cx="1428750" cy="314325"/>
          </a:xfrm>
          <a:prstGeom prst="rect">
            <a:avLst/>
          </a:prstGeom>
          <a:noFill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解析层</a:t>
            </a:r>
            <a:endParaRPr lang="en-US" sz="9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3188" y="2167913"/>
            <a:ext cx="96441" cy="1285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811066" y="2158983"/>
            <a:ext cx="786092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MinerU SaaS</a:t>
            </a:r>
            <a:endParaRPr lang="en-US" sz="9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1470" y="2167913"/>
            <a:ext cx="96441" cy="12858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979348" y="2146482"/>
            <a:ext cx="1314506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Markdown 结构化转换</a:t>
            </a:r>
            <a:endParaRPr lang="en-US" sz="9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422" y="2353651"/>
            <a:ext cx="107156" cy="142875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1000125" y="2532244"/>
            <a:ext cx="7143750" cy="3286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25" name="Shape 16"/>
          <p:cNvSpPr/>
          <p:nvPr/>
        </p:nvSpPr>
        <p:spPr>
          <a:xfrm>
            <a:off x="1000125" y="2532244"/>
            <a:ext cx="1428750" cy="31432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6" name="Text 17"/>
          <p:cNvSpPr/>
          <p:nvPr/>
        </p:nvSpPr>
        <p:spPr>
          <a:xfrm>
            <a:off x="1000125" y="2532244"/>
            <a:ext cx="1428750" cy="314325"/>
          </a:xfrm>
          <a:prstGeom prst="rect">
            <a:avLst/>
          </a:prstGeom>
          <a:noFill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智能处理层</a:t>
            </a:r>
            <a:endParaRPr lang="en-US" sz="9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3188" y="2696551"/>
            <a:ext cx="128588" cy="1285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843213" y="2687621"/>
            <a:ext cx="91467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DeepSeek LLM</a:t>
            </a:r>
            <a:endParaRPr lang="en-US" sz="9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2204" y="2696551"/>
            <a:ext cx="144661" cy="1285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188302" y="2687621"/>
            <a:ext cx="1221972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UniversalDataAgent</a:t>
            </a:r>
            <a:endParaRPr lang="en-US" sz="9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422" y="2882288"/>
            <a:ext cx="107156" cy="142875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1000125" y="3060882"/>
            <a:ext cx="7143750" cy="3286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33" name="Shape 21"/>
          <p:cNvSpPr/>
          <p:nvPr/>
        </p:nvSpPr>
        <p:spPr>
          <a:xfrm>
            <a:off x="1000125" y="3060882"/>
            <a:ext cx="1428750" cy="31432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4" name="Text 22"/>
          <p:cNvSpPr/>
          <p:nvPr/>
        </p:nvSpPr>
        <p:spPr>
          <a:xfrm>
            <a:off x="1000125" y="3060882"/>
            <a:ext cx="1428750" cy="314325"/>
          </a:xfrm>
          <a:prstGeom prst="rect">
            <a:avLst/>
          </a:prstGeom>
          <a:noFill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审计层</a:t>
            </a:r>
            <a:endParaRPr lang="en-US" sz="900" dirty="0"/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43188" y="3225188"/>
            <a:ext cx="96441" cy="128588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2811066" y="3203757"/>
            <a:ext cx="900113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财务恒等式校验</a:t>
            </a:r>
            <a:endParaRPr lang="en-US" sz="900" dirty="0"/>
          </a:p>
        </p:txBody>
      </p:sp>
      <p:pic>
        <p:nvPicPr>
          <p:cNvPr id="37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5491" y="3225188"/>
            <a:ext cx="128588" cy="128588"/>
          </a:xfrm>
          <a:prstGeom prst="rect">
            <a:avLst/>
          </a:prstGeom>
        </p:spPr>
      </p:pic>
      <p:sp>
        <p:nvSpPr>
          <p:cNvPr id="38" name="Text 24"/>
          <p:cNvSpPr/>
          <p:nvPr/>
        </p:nvSpPr>
        <p:spPr>
          <a:xfrm>
            <a:off x="4125516" y="3203757"/>
            <a:ext cx="77152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失败重试机制</a:t>
            </a:r>
            <a:endParaRPr lang="en-US" sz="900" dirty="0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422" y="3410926"/>
            <a:ext cx="107156" cy="142875"/>
          </a:xfrm>
          <a:prstGeom prst="rect">
            <a:avLst/>
          </a:prstGeom>
        </p:spPr>
      </p:pic>
      <p:sp>
        <p:nvSpPr>
          <p:cNvPr id="40" name="Shape 25"/>
          <p:cNvSpPr/>
          <p:nvPr/>
        </p:nvSpPr>
        <p:spPr>
          <a:xfrm>
            <a:off x="1000125" y="3589519"/>
            <a:ext cx="7143750" cy="328613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41" name="Shape 26"/>
          <p:cNvSpPr/>
          <p:nvPr/>
        </p:nvSpPr>
        <p:spPr>
          <a:xfrm>
            <a:off x="1000125" y="3589519"/>
            <a:ext cx="1428750" cy="31432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2" name="Text 27"/>
          <p:cNvSpPr/>
          <p:nvPr/>
        </p:nvSpPr>
        <p:spPr>
          <a:xfrm>
            <a:off x="1000125" y="3589519"/>
            <a:ext cx="1428750" cy="314325"/>
          </a:xfrm>
          <a:prstGeom prst="rect">
            <a:avLst/>
          </a:prstGeom>
          <a:noFill/>
        </p:spPr>
        <p:txBody>
          <a:bodyPr wrap="square" lIns="0" tIns="17005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状态层</a:t>
            </a:r>
            <a:endParaRPr lang="en-US" sz="900" dirty="0"/>
          </a:p>
        </p:txBody>
      </p:sp>
      <p:pic>
        <p:nvPicPr>
          <p:cNvPr id="43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43188" y="3753826"/>
            <a:ext cx="112514" cy="128588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2827139" y="3744896"/>
            <a:ext cx="786036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task_db.json</a:t>
            </a:r>
            <a:endParaRPr lang="en-US" sz="900" dirty="0"/>
          </a:p>
        </p:txBody>
      </p:sp>
      <p:pic>
        <p:nvPicPr>
          <p:cNvPr id="45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27487" y="3753826"/>
            <a:ext cx="128588" cy="128588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4027512" y="3732394"/>
            <a:ext cx="64293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任务持久化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从 PDF URL 到结构化结果的异步任务流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066791" y="1243013"/>
            <a:ext cx="342900" cy="3429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Text 2"/>
          <p:cNvSpPr/>
          <p:nvPr/>
        </p:nvSpPr>
        <p:spPr>
          <a:xfrm>
            <a:off x="1066791" y="1243013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981066" y="1728788"/>
            <a:ext cx="51435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提交任务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1971675"/>
            <a:ext cx="1333509" cy="280002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用户提交 PDF URL、场景及目标指标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2400300" y="1243013"/>
            <a:ext cx="342900" cy="3429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9" name="Text 6"/>
          <p:cNvSpPr/>
          <p:nvPr/>
        </p:nvSpPr>
        <p:spPr>
          <a:xfrm>
            <a:off x="2400300" y="1243013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14575" y="1728788"/>
            <a:ext cx="51435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生成任务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905009" y="1971675"/>
            <a:ext cx="1333509" cy="280002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系统生成 job_id 并进入后台异步队列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3733809" y="1243013"/>
            <a:ext cx="342900" cy="3429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3" name="Text 10"/>
          <p:cNvSpPr/>
          <p:nvPr/>
        </p:nvSpPr>
        <p:spPr>
          <a:xfrm>
            <a:off x="3733809" y="1243013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40900" y="1728788"/>
            <a:ext cx="72871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MinerU 解析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238519" y="1971675"/>
            <a:ext cx="1333509" cy="280002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调用 SaaS 接口将 PDF 转为 Markdown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067319" y="1243013"/>
            <a:ext cx="342900" cy="3429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7" name="Text 14"/>
          <p:cNvSpPr/>
          <p:nvPr/>
        </p:nvSpPr>
        <p:spPr>
          <a:xfrm>
            <a:off x="5067319" y="1243013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910184" y="1728788"/>
            <a:ext cx="657197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 抽取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28" y="1971675"/>
            <a:ext cx="1333509" cy="280002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规则优先 + LLM 兜底构建上下文包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400828" y="1243013"/>
            <a:ext cx="342900" cy="3429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1" name="Text 18"/>
          <p:cNvSpPr/>
          <p:nvPr/>
        </p:nvSpPr>
        <p:spPr>
          <a:xfrm>
            <a:off x="6400828" y="1243013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315103" y="1728788"/>
            <a:ext cx="51435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审计校验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905537" y="1971675"/>
            <a:ext cx="1333509" cy="280002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执行财务恒等式校验与字段检查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7734337" y="1243013"/>
            <a:ext cx="342900" cy="3429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5" name="Text 22"/>
          <p:cNvSpPr/>
          <p:nvPr/>
        </p:nvSpPr>
        <p:spPr>
          <a:xfrm>
            <a:off x="7734337" y="1243013"/>
            <a:ext cx="342900" cy="34290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648612" y="1728788"/>
            <a:ext cx="514350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结果写入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39047" y="1971675"/>
            <a:ext cx="1333509" cy="280002"/>
          </a:xfrm>
          <a:prstGeom prst="rect">
            <a:avLst/>
          </a:prstGeom>
          <a:noFill/>
        </p:spPr>
        <p:txBody>
          <a:bodyPr wrap="square" lIns="85090" tIns="0" rIns="8509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校验通过后持久化结果并更新状态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571500" y="2966052"/>
            <a:ext cx="8001000" cy="102691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571500" y="2966052"/>
            <a:ext cx="8001000" cy="714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0" name="Text 27"/>
          <p:cNvSpPr/>
          <p:nvPr/>
        </p:nvSpPr>
        <p:spPr>
          <a:xfrm>
            <a:off x="571500" y="3251802"/>
            <a:ext cx="8001000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任务状态流转图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71500" y="3658995"/>
            <a:ext cx="754391" cy="326827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2" name="Text 29"/>
          <p:cNvSpPr/>
          <p:nvPr/>
        </p:nvSpPr>
        <p:spPr>
          <a:xfrm>
            <a:off x="571500" y="3658995"/>
            <a:ext cx="754391" cy="326827"/>
          </a:xfrm>
          <a:prstGeom prst="rect">
            <a:avLst/>
          </a:prstGeom>
          <a:noFill/>
        </p:spPr>
        <p:txBody>
          <a:bodyPr wrap="none" lIns="204089" tIns="102108" rIns="204089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queued</a:t>
            </a:r>
            <a:endParaRPr lang="en-US" sz="800" dirty="0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766" y="3761687"/>
            <a:ext cx="114300" cy="11430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1725941" y="3658995"/>
            <a:ext cx="1440191" cy="326827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5" name="Text 31"/>
          <p:cNvSpPr/>
          <p:nvPr/>
        </p:nvSpPr>
        <p:spPr>
          <a:xfrm>
            <a:off x="1725941" y="3658995"/>
            <a:ext cx="1440191" cy="326827"/>
          </a:xfrm>
          <a:prstGeom prst="rect">
            <a:avLst/>
          </a:prstGeom>
          <a:noFill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parsing_document</a:t>
            </a:r>
            <a:endParaRPr lang="en-US" sz="8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007" y="3761687"/>
            <a:ext cx="114300" cy="114300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3566182" y="3658995"/>
            <a:ext cx="1440191" cy="326827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3"/>
          <p:cNvSpPr/>
          <p:nvPr/>
        </p:nvSpPr>
        <p:spPr>
          <a:xfrm>
            <a:off x="3566182" y="3658995"/>
            <a:ext cx="1440191" cy="326827"/>
          </a:xfrm>
          <a:prstGeom prst="rect">
            <a:avLst/>
          </a:prstGeom>
          <a:noFill/>
        </p:spPr>
        <p:txBody>
          <a:bodyPr wrap="square" lIns="204089" tIns="102108" rIns="204089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7556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agent_processing</a:t>
            </a:r>
            <a:endParaRPr lang="en-US" sz="8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248" y="3761687"/>
            <a:ext cx="114300" cy="114300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5406423" y="3658995"/>
            <a:ext cx="822982" cy="326827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41" name="Text 35"/>
          <p:cNvSpPr/>
          <p:nvPr/>
        </p:nvSpPr>
        <p:spPr>
          <a:xfrm>
            <a:off x="5406423" y="3658995"/>
            <a:ext cx="822982" cy="326827"/>
          </a:xfrm>
          <a:prstGeom prst="rect">
            <a:avLst/>
          </a:prstGeom>
          <a:noFill/>
        </p:spPr>
        <p:txBody>
          <a:bodyPr wrap="none" lIns="204089" tIns="102108" rIns="204089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success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6372281" y="3658995"/>
            <a:ext cx="754391" cy="326827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3" name="Text 37"/>
          <p:cNvSpPr/>
          <p:nvPr/>
        </p:nvSpPr>
        <p:spPr>
          <a:xfrm>
            <a:off x="6372281" y="3658995"/>
            <a:ext cx="754391" cy="326827"/>
          </a:xfrm>
          <a:prstGeom prst="rect">
            <a:avLst/>
          </a:prstGeom>
          <a:noFill/>
        </p:spPr>
        <p:txBody>
          <a:bodyPr wrap="none" lIns="204089" tIns="102108" rIns="204089" bIns="102108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failed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防幻觉策略：先规则、再模型、最后校验</a:t>
            </a:r>
            <a:endParaRPr lang="en-US" sz="2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451967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1819870"/>
            <a:ext cx="1714500" cy="2125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规则优先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571500" y="2118122"/>
            <a:ext cx="1714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直接从 MinerU Markdown 表格中定位指标行和数值</a:t>
            </a:r>
            <a:endParaRPr lang="en-US" sz="8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903" y="1809155"/>
            <a:ext cx="107156" cy="17145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13" y="1451967"/>
            <a:ext cx="228600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666963" y="1819870"/>
            <a:ext cx="1714500" cy="2125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模型兜底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2666963" y="2118122"/>
            <a:ext cx="1714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规则不足时调用 DeepSeek 做上下文语义理解</a:t>
            </a:r>
            <a:endParaRPr lang="en-US" sz="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8366" y="1809155"/>
            <a:ext cx="107156" cy="17145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762426" y="1819870"/>
            <a:ext cx="1714500" cy="2125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审计校验</a:t>
            </a:r>
            <a:endParaRPr lang="en-US" sz="1100" dirty="0"/>
          </a:p>
        </p:txBody>
      </p:sp>
      <p:sp>
        <p:nvSpPr>
          <p:cNvPr id="13" name="Text 6"/>
          <p:cNvSpPr/>
          <p:nvPr/>
        </p:nvSpPr>
        <p:spPr>
          <a:xfrm>
            <a:off x="4762426" y="2118122"/>
            <a:ext cx="1714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执行财务恒等式检查，验证数据逻辑自洽性</a:t>
            </a:r>
            <a:endParaRPr lang="en-US" sz="8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3829" y="1809155"/>
            <a:ext cx="107156" cy="171450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0838" y="1451967"/>
            <a:ext cx="228600" cy="228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857888" y="1819870"/>
            <a:ext cx="1714500" cy="2125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反思重试</a:t>
            </a:r>
            <a:endParaRPr lang="en-US" sz="1100" dirty="0"/>
          </a:p>
        </p:txBody>
      </p:sp>
      <p:sp>
        <p:nvSpPr>
          <p:cNvPr id="17" name="Text 8"/>
          <p:cNvSpPr/>
          <p:nvPr/>
        </p:nvSpPr>
        <p:spPr>
          <a:xfrm>
            <a:off x="6857888" y="2118122"/>
            <a:ext cx="17145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校验失败时反馈错误原因，模型重新抽取</a:t>
            </a:r>
            <a:endParaRPr lang="en-US" sz="800" dirty="0"/>
          </a:p>
        </p:txBody>
      </p:sp>
      <p:sp>
        <p:nvSpPr>
          <p:cNvPr id="18" name="Shape 9"/>
          <p:cNvSpPr/>
          <p:nvPr/>
        </p:nvSpPr>
        <p:spPr>
          <a:xfrm>
            <a:off x="571500" y="2989659"/>
            <a:ext cx="8001000" cy="122872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Shape 10"/>
          <p:cNvSpPr/>
          <p:nvPr/>
        </p:nvSpPr>
        <p:spPr>
          <a:xfrm>
            <a:off x="571500" y="2989659"/>
            <a:ext cx="8001000" cy="7144"/>
          </a:xfrm>
          <a:prstGeom prst="rect">
            <a:avLst/>
          </a:prstGeom>
          <a:solidFill>
            <a:srgbClr val="E2E8F0"/>
          </a:solidFill>
        </p:spPr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300413"/>
            <a:ext cx="142875" cy="142875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85813" y="3275409"/>
            <a:ext cx="1000125" cy="19288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误抽规避项清单</a:t>
            </a:r>
            <a:endParaRPr lang="en-US" sz="1000" dirty="0"/>
          </a:p>
        </p:txBody>
      </p:sp>
      <p:sp>
        <p:nvSpPr>
          <p:cNvPr id="22" name="Shape 12"/>
          <p:cNvSpPr/>
          <p:nvPr/>
        </p:nvSpPr>
        <p:spPr>
          <a:xfrm>
            <a:off x="571500" y="3639741"/>
            <a:ext cx="1893094" cy="5715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3" name="Shape 13"/>
          <p:cNvSpPr/>
          <p:nvPr/>
        </p:nvSpPr>
        <p:spPr>
          <a:xfrm>
            <a:off x="571500" y="3639741"/>
            <a:ext cx="28575" cy="5715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4" name="Text 14"/>
          <p:cNvSpPr/>
          <p:nvPr/>
        </p:nvSpPr>
        <p:spPr>
          <a:xfrm>
            <a:off x="714375" y="3754041"/>
            <a:ext cx="1750219" cy="1357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时间干扰</a:t>
            </a:r>
            <a:endParaRPr lang="en-US" sz="750" dirty="0"/>
          </a:p>
        </p:txBody>
      </p:sp>
      <p:sp>
        <p:nvSpPr>
          <p:cNvPr id="25" name="Text 15"/>
          <p:cNvSpPr/>
          <p:nvPr/>
        </p:nvSpPr>
        <p:spPr>
          <a:xfrm>
            <a:off x="714375" y="3918347"/>
            <a:ext cx="1750219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年份、报告期</a:t>
            </a:r>
            <a:endParaRPr lang="en-US" sz="900" dirty="0"/>
          </a:p>
        </p:txBody>
      </p:sp>
      <p:sp>
        <p:nvSpPr>
          <p:cNvPr id="26" name="Shape 16"/>
          <p:cNvSpPr/>
          <p:nvPr/>
        </p:nvSpPr>
        <p:spPr>
          <a:xfrm>
            <a:off x="2607469" y="3639741"/>
            <a:ext cx="1893094" cy="5715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7" name="Shape 17"/>
          <p:cNvSpPr/>
          <p:nvPr/>
        </p:nvSpPr>
        <p:spPr>
          <a:xfrm>
            <a:off x="2607469" y="3639741"/>
            <a:ext cx="28575" cy="5715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8" name="Text 18"/>
          <p:cNvSpPr/>
          <p:nvPr/>
        </p:nvSpPr>
        <p:spPr>
          <a:xfrm>
            <a:off x="2750344" y="3754041"/>
            <a:ext cx="1750219" cy="1357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文档标记</a:t>
            </a:r>
            <a:endParaRPr lang="en-US" sz="750" dirty="0"/>
          </a:p>
        </p:txBody>
      </p:sp>
      <p:sp>
        <p:nvSpPr>
          <p:cNvPr id="29" name="Text 19"/>
          <p:cNvSpPr/>
          <p:nvPr/>
        </p:nvSpPr>
        <p:spPr>
          <a:xfrm>
            <a:off x="2750344" y="3918347"/>
            <a:ext cx="1750219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附注编号、页码</a:t>
            </a:r>
            <a:endParaRPr lang="en-US" sz="900" dirty="0"/>
          </a:p>
        </p:txBody>
      </p:sp>
      <p:sp>
        <p:nvSpPr>
          <p:cNvPr id="30" name="Shape 20"/>
          <p:cNvSpPr/>
          <p:nvPr/>
        </p:nvSpPr>
        <p:spPr>
          <a:xfrm>
            <a:off x="4643438" y="3639741"/>
            <a:ext cx="1893094" cy="5715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1" name="Shape 21"/>
          <p:cNvSpPr/>
          <p:nvPr/>
        </p:nvSpPr>
        <p:spPr>
          <a:xfrm>
            <a:off x="4643438" y="3639741"/>
            <a:ext cx="28575" cy="5715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2" name="Text 22"/>
          <p:cNvSpPr/>
          <p:nvPr/>
        </p:nvSpPr>
        <p:spPr>
          <a:xfrm>
            <a:off x="4786313" y="3754041"/>
            <a:ext cx="1750219" cy="1357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层级干扰</a:t>
            </a:r>
            <a:endParaRPr lang="en-US" sz="750" dirty="0"/>
          </a:p>
        </p:txBody>
      </p:sp>
      <p:sp>
        <p:nvSpPr>
          <p:cNvPr id="33" name="Text 23"/>
          <p:cNvSpPr/>
          <p:nvPr/>
        </p:nvSpPr>
        <p:spPr>
          <a:xfrm>
            <a:off x="4786313" y="3918347"/>
            <a:ext cx="1750219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流动/非流动小计</a:t>
            </a:r>
            <a:endParaRPr lang="en-US" sz="900" dirty="0"/>
          </a:p>
        </p:txBody>
      </p:sp>
      <p:sp>
        <p:nvSpPr>
          <p:cNvPr id="34" name="Shape 24"/>
          <p:cNvSpPr/>
          <p:nvPr/>
        </p:nvSpPr>
        <p:spPr>
          <a:xfrm>
            <a:off x="6679406" y="3639741"/>
            <a:ext cx="1893094" cy="57150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5" name="Shape 25"/>
          <p:cNvSpPr/>
          <p:nvPr/>
        </p:nvSpPr>
        <p:spPr>
          <a:xfrm>
            <a:off x="6679406" y="3639741"/>
            <a:ext cx="28575" cy="57150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6" name="Text 26"/>
          <p:cNvSpPr/>
          <p:nvPr/>
        </p:nvSpPr>
        <p:spPr>
          <a:xfrm>
            <a:off x="6822281" y="3754041"/>
            <a:ext cx="1750219" cy="1357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权益干扰</a:t>
            </a:r>
            <a:endParaRPr lang="en-US" sz="750" dirty="0"/>
          </a:p>
        </p:txBody>
      </p:sp>
      <p:sp>
        <p:nvSpPr>
          <p:cNvPr id="37" name="Text 27"/>
          <p:cNvSpPr/>
          <p:nvPr/>
        </p:nvSpPr>
        <p:spPr>
          <a:xfrm>
            <a:off x="6822281" y="3918347"/>
            <a:ext cx="1750219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334155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归母权益、少数股东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设计：便于评测系统自动接入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350169"/>
            <a:ext cx="443750" cy="17323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Text 2"/>
          <p:cNvSpPr/>
          <p:nvPr/>
        </p:nvSpPr>
        <p:spPr>
          <a:xfrm>
            <a:off x="571500" y="1350169"/>
            <a:ext cx="443750" cy="173236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POST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571500" y="1609130"/>
            <a:ext cx="3500438" cy="162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/v1/agent/process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1828800"/>
            <a:ext cx="350043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提交文档处理任务。支持异步处理长文档，返回 job_id 以供后续查询。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71500" y="2521744"/>
            <a:ext cx="377056" cy="17323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9" name="Text 6"/>
          <p:cNvSpPr/>
          <p:nvPr/>
        </p:nvSpPr>
        <p:spPr>
          <a:xfrm>
            <a:off x="571500" y="2521744"/>
            <a:ext cx="377056" cy="173236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71500" y="2780705"/>
            <a:ext cx="3500438" cy="162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/v1/agent/task_status/{job_id}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1500" y="3000375"/>
            <a:ext cx="350043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轮询任务状态与结果。状态包括：queued, parsing, processing, success, failed。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1500" y="3693319"/>
            <a:ext cx="377056" cy="173236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3" name="Text 10"/>
          <p:cNvSpPr/>
          <p:nvPr/>
        </p:nvSpPr>
        <p:spPr>
          <a:xfrm>
            <a:off x="571500" y="3693319"/>
            <a:ext cx="377056" cy="173236"/>
          </a:xfrm>
          <a:prstGeom prst="rect">
            <a:avLst/>
          </a:prstGeom>
          <a:noFill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GET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71500" y="3952280"/>
            <a:ext cx="3500438" cy="1625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/health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" y="4171950"/>
            <a:ext cx="3500438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服务探活接口。返回系统运行状态及核心组件连接情况。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500563" y="1171575"/>
            <a:ext cx="4071938" cy="3343275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7" name="Text 14"/>
          <p:cNvSpPr/>
          <p:nvPr/>
        </p:nvSpPr>
        <p:spPr>
          <a:xfrm>
            <a:off x="4786313" y="1457325"/>
            <a:ext cx="3500438" cy="238590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kern="0" spc="1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REQUEST BODY EXAMPLE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786313" y="1838790"/>
            <a:ext cx="3500438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86313" y="2021653"/>
            <a:ext cx="3500438" cy="182863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"file_url"</a:t>
            </a: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</a:t>
            </a:r>
            <a:r>
              <a:rPr lang="en-US" sz="850" dirty="0">
                <a:solidFill>
                  <a:srgbClr val="BEF26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"https://example.com/report.pdf"</a:t>
            </a: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86313" y="2204517"/>
            <a:ext cx="3500438" cy="182863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"scenario"</a:t>
            </a: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</a:t>
            </a:r>
            <a:r>
              <a:rPr lang="en-US" sz="850" dirty="0">
                <a:solidFill>
                  <a:srgbClr val="BEF26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"finance_report"</a:t>
            </a: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786313" y="2387380"/>
            <a:ext cx="3500438" cy="182863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"page_ranges"</a:t>
            </a: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</a:t>
            </a:r>
            <a:r>
              <a:rPr lang="en-US" sz="850" dirty="0">
                <a:solidFill>
                  <a:srgbClr val="BEF26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"114-130"</a:t>
            </a: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86313" y="2570243"/>
            <a:ext cx="3500438" cy="182863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7DD3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"target_metrics"</a:t>
            </a: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: [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86313" y="2753106"/>
            <a:ext cx="3500438" cy="182863"/>
          </a:xfrm>
          <a:prstGeom prst="rect">
            <a:avLst/>
          </a:prstGeom>
          <a:noFill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BEF26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"revenue"</a:t>
            </a: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786313" y="2935970"/>
            <a:ext cx="3500438" cy="182863"/>
          </a:xfrm>
          <a:prstGeom prst="rect">
            <a:avLst/>
          </a:prstGeom>
          <a:noFill/>
        </p:spPr>
        <p:txBody>
          <a:bodyPr wrap="none" lIns="34023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BEF26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"total_assets"</a:t>
            </a: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,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072063" y="3145622"/>
            <a:ext cx="1303232" cy="1285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BEF26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"total_liabilities"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786313" y="3301696"/>
            <a:ext cx="3500438" cy="182863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4786313" y="3484559"/>
            <a:ext cx="3500438" cy="18286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E2E8F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PDF 联调：中兴通讯 2020 年报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1100138"/>
            <a:ext cx="1771985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输入文档：</a:t>
            </a: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中兴通讯 2020 年报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2629235" y="1100138"/>
            <a:ext cx="1107756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页码范围：</a:t>
            </a: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114-130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022741" y="1100138"/>
            <a:ext cx="2681641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解析链路：</a:t>
            </a: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MinerU SaaS -&gt; Agent -&gt; 财务校验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" y="1557338"/>
            <a:ext cx="1871663" cy="12858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5"/>
          <p:cNvSpPr/>
          <p:nvPr/>
        </p:nvSpPr>
        <p:spPr>
          <a:xfrm>
            <a:off x="571500" y="1557338"/>
            <a:ext cx="1871663" cy="28575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9" name="Text 6"/>
          <p:cNvSpPr/>
          <p:nvPr/>
        </p:nvSpPr>
        <p:spPr>
          <a:xfrm>
            <a:off x="742950" y="1771650"/>
            <a:ext cx="1528763" cy="1553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营业收入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42950" y="2041327"/>
            <a:ext cx="1528763" cy="3125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101,450,670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2950" y="2411016"/>
            <a:ext cx="1528763" cy="1357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人民币千元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2614613" y="1557338"/>
            <a:ext cx="1871663" cy="12858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10"/>
          <p:cNvSpPr/>
          <p:nvPr/>
        </p:nvSpPr>
        <p:spPr>
          <a:xfrm>
            <a:off x="2614613" y="1557338"/>
            <a:ext cx="1871663" cy="28575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4" name="Text 11"/>
          <p:cNvSpPr/>
          <p:nvPr/>
        </p:nvSpPr>
        <p:spPr>
          <a:xfrm>
            <a:off x="2786063" y="1771650"/>
            <a:ext cx="1528763" cy="1553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资产总计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786063" y="2041327"/>
            <a:ext cx="1528763" cy="3125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150,634,906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786063" y="2411016"/>
            <a:ext cx="1528763" cy="1357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人民币千元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657725" y="1557338"/>
            <a:ext cx="1871663" cy="12858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Shape 15"/>
          <p:cNvSpPr/>
          <p:nvPr/>
        </p:nvSpPr>
        <p:spPr>
          <a:xfrm>
            <a:off x="4657725" y="1557338"/>
            <a:ext cx="1871663" cy="28575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9" name="Text 16"/>
          <p:cNvSpPr/>
          <p:nvPr/>
        </p:nvSpPr>
        <p:spPr>
          <a:xfrm>
            <a:off x="4829175" y="1771650"/>
            <a:ext cx="1528763" cy="1553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负债合计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829175" y="2041327"/>
            <a:ext cx="1528763" cy="3125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104,512,400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29175" y="2411016"/>
            <a:ext cx="1528763" cy="1357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人民币千元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700838" y="1557338"/>
            <a:ext cx="1871663" cy="128587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Shape 20"/>
          <p:cNvSpPr/>
          <p:nvPr/>
        </p:nvSpPr>
        <p:spPr>
          <a:xfrm>
            <a:off x="6700838" y="1557338"/>
            <a:ext cx="1871663" cy="28575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4" name="Text 21"/>
          <p:cNvSpPr/>
          <p:nvPr/>
        </p:nvSpPr>
        <p:spPr>
          <a:xfrm>
            <a:off x="6872288" y="1771650"/>
            <a:ext cx="1528763" cy="15537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所有者权益合计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872288" y="2041327"/>
            <a:ext cx="1528763" cy="3125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46,122,506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872288" y="2411016"/>
            <a:ext cx="1528763" cy="1357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人民币千元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71500" y="3271838"/>
            <a:ext cx="8001000" cy="118050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8" name="Text 25"/>
          <p:cNvSpPr/>
          <p:nvPr/>
        </p:nvSpPr>
        <p:spPr>
          <a:xfrm>
            <a:off x="4057650" y="3486150"/>
            <a:ext cx="1028700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D94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财务恒等式校验结果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2291693" y="3707606"/>
            <a:ext cx="4560587" cy="27324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150,634,906 = 104,512,400 + 46,122,506</a:t>
            </a:r>
            <a:endParaRPr lang="en-US" sz="14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4088011"/>
            <a:ext cx="128588" cy="12858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957638" y="4066580"/>
            <a:ext cx="1414463" cy="1714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校验通过：数据逻辑自洽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验证结果：本地、单元、并发、真实链路均通过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171575"/>
            <a:ext cx="8001000" cy="2932509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Shape 2"/>
          <p:cNvSpPr/>
          <p:nvPr/>
        </p:nvSpPr>
        <p:spPr>
          <a:xfrm>
            <a:off x="571500" y="1171575"/>
            <a:ext cx="1482133" cy="42862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6" name="Text 3"/>
          <p:cNvSpPr/>
          <p:nvPr/>
        </p:nvSpPr>
        <p:spPr>
          <a:xfrm>
            <a:off x="571500" y="1171575"/>
            <a:ext cx="1482133" cy="428625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测试项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053633" y="1171575"/>
            <a:ext cx="1798160" cy="42862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8" name="Text 5"/>
          <p:cNvSpPr/>
          <p:nvPr/>
        </p:nvSpPr>
        <p:spPr>
          <a:xfrm>
            <a:off x="2053633" y="1171575"/>
            <a:ext cx="1798160" cy="428625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验证目标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851793" y="1171575"/>
            <a:ext cx="3746674" cy="42862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0" name="Text 7"/>
          <p:cNvSpPr/>
          <p:nvPr/>
        </p:nvSpPr>
        <p:spPr>
          <a:xfrm>
            <a:off x="3851793" y="1171575"/>
            <a:ext cx="3746674" cy="428625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执行命令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598466" y="1171575"/>
            <a:ext cx="974034" cy="42862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2" name="Text 9"/>
          <p:cNvSpPr/>
          <p:nvPr/>
        </p:nvSpPr>
        <p:spPr>
          <a:xfrm>
            <a:off x="7598466" y="1171575"/>
            <a:ext cx="974034" cy="428625"/>
          </a:xfrm>
          <a:prstGeom prst="rect">
            <a:avLst/>
          </a:prstGeom>
          <a:noFill/>
        </p:spPr>
        <p:txBody>
          <a:bodyPr wrap="non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结果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71500" y="1600200"/>
            <a:ext cx="1482133" cy="500063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本地烟测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53633" y="1600200"/>
            <a:ext cx="1798160" cy="500063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基础财务逻辑验证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023243" y="1833265"/>
            <a:ext cx="2446400" cy="18573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6" name="Text 13"/>
          <p:cNvSpPr/>
          <p:nvPr/>
        </p:nvSpPr>
        <p:spPr>
          <a:xfrm>
            <a:off x="4023243" y="1833265"/>
            <a:ext cx="2446400" cy="185738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tests/test_local_finance.py</a:t>
            </a:r>
            <a:endParaRPr lang="en-US" sz="8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916" y="1862733"/>
            <a:ext cx="114300" cy="1143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41366" y="1842195"/>
            <a:ext cx="2286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通过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71500" y="2100263"/>
            <a:ext cx="1482133" cy="500063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单元验证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2053633" y="2100263"/>
            <a:ext cx="1798160" cy="500063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抽取与校验闭环验证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023243" y="2335113"/>
            <a:ext cx="2240626" cy="18573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2" name="Text 18"/>
          <p:cNvSpPr/>
          <p:nvPr/>
        </p:nvSpPr>
        <p:spPr>
          <a:xfrm>
            <a:off x="4023243" y="2335113"/>
            <a:ext cx="2240626" cy="185738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tests/test_agent_unit.py</a:t>
            </a:r>
            <a:endParaRPr lang="en-US" sz="8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916" y="2364581"/>
            <a:ext cx="114300" cy="1143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941366" y="2344043"/>
            <a:ext cx="2286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通过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571500" y="2600325"/>
            <a:ext cx="1482133" cy="500063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并发稳定性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2053633" y="2600325"/>
            <a:ext cx="1798160" cy="500063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多任务并行处理能力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023243" y="2835176"/>
            <a:ext cx="2172035" cy="18573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8" name="Text 23"/>
          <p:cNvSpPr/>
          <p:nvPr/>
        </p:nvSpPr>
        <p:spPr>
          <a:xfrm>
            <a:off x="4023243" y="2835176"/>
            <a:ext cx="2172035" cy="185738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tests/test_stability.py</a:t>
            </a:r>
            <a:endParaRPr lang="en-US" sz="8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916" y="2864644"/>
            <a:ext cx="114300" cy="1143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941366" y="2844105"/>
            <a:ext cx="2286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通过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71500" y="3100388"/>
            <a:ext cx="1482133" cy="500063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真实 PDF 联调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2053633" y="3100388"/>
            <a:ext cx="1798160" cy="500063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全链路生产环境模拟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4023243" y="3335238"/>
            <a:ext cx="2514991" cy="18573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4" name="Text 28"/>
          <p:cNvSpPr/>
          <p:nvPr/>
        </p:nvSpPr>
        <p:spPr>
          <a:xfrm>
            <a:off x="4023243" y="3335238"/>
            <a:ext cx="2514991" cy="185738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scripts/run_real_pdf_test.py</a:t>
            </a:r>
            <a:endParaRPr lang="en-US" sz="8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916" y="3364706"/>
            <a:ext cx="114300" cy="11430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941366" y="3344168"/>
            <a:ext cx="2286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通过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571500" y="3600450"/>
            <a:ext cx="1482133" cy="500063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健康检查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2053633" y="3600450"/>
            <a:ext cx="1798160" cy="500063"/>
          </a:xfrm>
          <a:prstGeom prst="rect">
            <a:avLst/>
          </a:prstGeom>
          <a:noFill/>
        </p:spPr>
        <p:txBody>
          <a:bodyPr wrap="square" lIns="204089" tIns="170053" rIns="204089" bIns="0" rtlCol="0" anchor="ctr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服务存活与组件状态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4023243" y="3835301"/>
            <a:ext cx="2377808" cy="18573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0" name="Text 33"/>
          <p:cNvSpPr/>
          <p:nvPr/>
        </p:nvSpPr>
        <p:spPr>
          <a:xfrm>
            <a:off x="4023243" y="3835301"/>
            <a:ext cx="2377808" cy="185738"/>
          </a:xfrm>
          <a:prstGeom prst="rect">
            <a:avLst/>
          </a:prstGeom>
          <a:noFill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curl http://localhost:8000/health</a:t>
            </a:r>
            <a:endParaRPr lang="en-US" sz="85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916" y="3864769"/>
            <a:ext cx="114300" cy="1143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7941366" y="3844230"/>
            <a:ext cx="22860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94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通过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714375" y="4389834"/>
            <a:ext cx="1348578" cy="13573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并发压力测试</a:t>
            </a:r>
            <a:endParaRPr lang="en-US" sz="750" dirty="0"/>
          </a:p>
        </p:txBody>
      </p:sp>
      <p:sp>
        <p:nvSpPr>
          <p:cNvPr id="44" name="Text 36"/>
          <p:cNvSpPr/>
          <p:nvPr/>
        </p:nvSpPr>
        <p:spPr>
          <a:xfrm>
            <a:off x="714375" y="4554141"/>
            <a:ext cx="1348578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Parallel Jobs = 8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2420141" y="4389834"/>
            <a:ext cx="1181984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全链路成功率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2420141" y="4554141"/>
            <a:ext cx="1181984" cy="19645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100% Success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提交材料完整，可复现、可部署、可评测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571500" y="1171575"/>
            <a:ext cx="4093369" cy="3375422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5" name="Shape 2"/>
          <p:cNvSpPr/>
          <p:nvPr/>
        </p:nvSpPr>
        <p:spPr>
          <a:xfrm>
            <a:off x="571500" y="1171575"/>
            <a:ext cx="42863" cy="337542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3"/>
          <p:cNvSpPr/>
          <p:nvPr/>
        </p:nvSpPr>
        <p:spPr>
          <a:xfrm>
            <a:off x="857250" y="1457325"/>
            <a:ext cx="3500438" cy="238590"/>
          </a:xfrm>
          <a:prstGeom prst="rect">
            <a:avLst/>
          </a:prstGeom>
          <a:noFill/>
        </p:spPr>
        <p:txBody>
          <a:bodyPr wrap="none" lIns="0" tIns="0" rIns="0" bIns="8509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750" kern="0" spc="1" dirty="0">
                <a:solidFill>
                  <a:srgbClr val="94A3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 STRUCTURE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57250" y="1838790"/>
            <a:ext cx="3500438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900" b="1" dirty="0">
                <a:solidFill>
                  <a:srgbClr val="7DD3F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data_agent/</a:t>
            </a: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核心服务与 Agent 代码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7250" y="2044508"/>
            <a:ext cx="3500438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900" b="1" dirty="0">
                <a:solidFill>
                  <a:srgbClr val="7DD3F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tests/</a:t>
            </a: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本地测试与稳定性验证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57250" y="2250225"/>
            <a:ext cx="3500438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900" b="1" dirty="0">
                <a:solidFill>
                  <a:srgbClr val="7DD3F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scripts/</a:t>
            </a: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真实 PDF 联调脚本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7250" y="2455943"/>
            <a:ext cx="3500438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900" b="1" dirty="0">
                <a:solidFill>
                  <a:srgbClr val="7DD3F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docs/</a:t>
            </a: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部署/API/技术报告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57250" y="2661661"/>
            <a:ext cx="3500438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900" b="1" dirty="0">
                <a:solidFill>
                  <a:srgbClr val="7DD3FC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submission/</a:t>
            </a: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950" dirty="0">
                <a:solidFill>
                  <a:srgbClr val="64748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最终提交说明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7250" y="2867378"/>
            <a:ext cx="3500438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README.md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7250" y="3073096"/>
            <a:ext cx="3500438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requirements.txt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57250" y="3278814"/>
            <a:ext cx="3500438" cy="2057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</a:t>
            </a:r>
            <a:r>
              <a:rPr lang="en-US" sz="9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.env.example</a:t>
            </a:r>
            <a:endParaRPr lang="en-US" sz="9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3" y="1384102"/>
            <a:ext cx="214313" cy="1714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29250" y="1350169"/>
            <a:ext cx="3143250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全栈交付物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29250" y="1600200"/>
            <a:ext cx="314325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包含完整的核心代码、自动化测试脚本、详细的技术报告及 API 接入文档。</a:t>
            </a:r>
            <a:endParaRPr lang="en-US" sz="8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3" y="2327077"/>
            <a:ext cx="171450" cy="171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86388" y="2293144"/>
            <a:ext cx="3186113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可复现验证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386388" y="2543175"/>
            <a:ext cx="3186113" cy="1562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提供一键运行的联调脚本，确保可快速复现真实 PDF 抽取结果。</a:t>
            </a:r>
            <a:endParaRPr lang="en-US" sz="8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3270052"/>
            <a:ext cx="214313" cy="171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29250" y="3236119"/>
            <a:ext cx="3143250" cy="192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规范化提交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29250" y="3486150"/>
            <a:ext cx="3143250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提交包结构清晰，不含 .env、venv 及运行产物，符合工程化交付标准。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5072063" y="4114800"/>
            <a:ext cx="3500438" cy="432197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5" name="Shape 19"/>
          <p:cNvSpPr/>
          <p:nvPr/>
        </p:nvSpPr>
        <p:spPr>
          <a:xfrm>
            <a:off x="5072063" y="4114800"/>
            <a:ext cx="28575" cy="432197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6" name="Text 20"/>
          <p:cNvSpPr/>
          <p:nvPr/>
        </p:nvSpPr>
        <p:spPr>
          <a:xfrm>
            <a:off x="5072063" y="4114800"/>
            <a:ext cx="3500438" cy="432197"/>
          </a:xfrm>
          <a:prstGeom prst="rect">
            <a:avLst/>
          </a:prstGeom>
          <a:noFill/>
        </p:spPr>
        <p:txBody>
          <a:bodyPr wrap="square" lIns="170053" tIns="170053" rIns="170053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47556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注：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环境变量通过 .env.example 模板提供，确保真实密钥不进入提</a:t>
            </a:r>
            <a:r>
              <a:rPr lang="en-US" sz="8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交包，保障系统安全性。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857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从财报抽取扩展到通用文档智能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3571875" y="2693194"/>
            <a:ext cx="2000250" cy="857250"/>
          </a:xfrm>
          <a:prstGeom prst="rect">
            <a:avLst/>
          </a:prstGeom>
          <a:solidFill>
            <a:srgbClr val="0F172A"/>
          </a:solidFill>
          <a:ln w="27432">
            <a:solidFill>
              <a:srgbClr val="0D948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12081" y="2934295"/>
            <a:ext cx="1119811" cy="2303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kern="0" spc="1" dirty="0">
                <a:solidFill>
                  <a:srgbClr val="FFFFFF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Data Agent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77519" y="3193256"/>
            <a:ext cx="988963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0D9488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CORE FRAMEWORK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3643313" y="1385888"/>
            <a:ext cx="1857375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5"/>
          <p:cNvSpPr/>
          <p:nvPr/>
        </p:nvSpPr>
        <p:spPr>
          <a:xfrm>
            <a:off x="3643313" y="1385888"/>
            <a:ext cx="1857375" cy="28575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88" y="1557338"/>
            <a:ext cx="85725" cy="1143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43350" y="1528763"/>
            <a:ext cx="900113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财报抽取与审计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3786188" y="1757363"/>
            <a:ext cx="1571625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自动化提取核心财务指标，辅助审计人员进行勾稽关系快速核对。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857250" y="2386013"/>
            <a:ext cx="1857375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9"/>
          <p:cNvSpPr/>
          <p:nvPr/>
        </p:nvSpPr>
        <p:spPr>
          <a:xfrm>
            <a:off x="857250" y="2386013"/>
            <a:ext cx="1857375" cy="28575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4" name="Text 10"/>
          <p:cNvSpPr/>
          <p:nvPr/>
        </p:nvSpPr>
        <p:spPr>
          <a:xfrm>
            <a:off x="1071563" y="2528888"/>
            <a:ext cx="77152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跨页信息合并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00125" y="2757488"/>
            <a:ext cx="1571625" cy="28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解决长文档中表格跨页断裂、指代不明等复杂语义关联问题。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857250" y="4100513"/>
            <a:ext cx="1857375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Shape 13"/>
          <p:cNvSpPr/>
          <p:nvPr/>
        </p:nvSpPr>
        <p:spPr>
          <a:xfrm>
            <a:off x="857250" y="4100513"/>
            <a:ext cx="1857375" cy="28575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" y="4271963"/>
            <a:ext cx="128588" cy="1143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00150" y="4243388"/>
            <a:ext cx="1000153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低质量 OCR 修复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000125" y="4471988"/>
            <a:ext cx="1571625" cy="42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利用 Agent 的反思能力，对模糊、倾斜或错位的 OCR 结果进行语义纠偏。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6429375" y="2386013"/>
            <a:ext cx="1857375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Shape 17"/>
          <p:cNvSpPr/>
          <p:nvPr/>
        </p:nvSpPr>
        <p:spPr>
          <a:xfrm>
            <a:off x="6429375" y="2386013"/>
            <a:ext cx="1857375" cy="28575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2557463"/>
            <a:ext cx="114300" cy="1143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57988" y="2528888"/>
            <a:ext cx="771525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行业规范审查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572250" y="2757488"/>
            <a:ext cx="1571625" cy="42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根据预设标准，自动审查合同、标书等文档是否符合行业合规性要求。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6429375" y="4100513"/>
            <a:ext cx="1857375" cy="8572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1"/>
          <p:cNvSpPr/>
          <p:nvPr/>
        </p:nvSpPr>
        <p:spPr>
          <a:xfrm>
            <a:off x="6429375" y="4100513"/>
            <a:ext cx="1857375" cy="28575"/>
          </a:xfrm>
          <a:prstGeom prst="rect">
            <a:avLst/>
          </a:prstGeom>
          <a:solidFill>
            <a:srgbClr val="0D9488"/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0" y="4271963"/>
            <a:ext cx="114300" cy="1143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757988" y="4243388"/>
            <a:ext cx="900113" cy="1714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复杂文档结构化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572250" y="4471988"/>
            <a:ext cx="1571625" cy="420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支持工程图纸说明、流程图描述、网页资料等非标准文档的知识提取。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2652</Words>
  <Application>WPS 演示</Application>
  <PresentationFormat>On-screen Show (16:9)</PresentationFormat>
  <Paragraphs>386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51" baseType="lpstr">
      <vt:lpstr>Arial</vt:lpstr>
      <vt:lpstr>宋体</vt:lpstr>
      <vt:lpstr>Wingdings</vt:lpstr>
      <vt:lpstr>Inter Medium</vt:lpstr>
      <vt:lpstr>Segoe Print</vt:lpstr>
      <vt:lpstr>Inter Medium</vt:lpstr>
      <vt:lpstr>Inter Medium</vt:lpstr>
      <vt:lpstr>Inter ExtraBold</vt:lpstr>
      <vt:lpstr>Inter ExtraBold</vt:lpstr>
      <vt:lpstr>Inter ExtraBold</vt:lpstr>
      <vt:lpstr>Inter</vt:lpstr>
      <vt:lpstr>Inter</vt:lpstr>
      <vt:lpstr>Inter</vt:lpstr>
      <vt:lpstr>Inter Bold</vt:lpstr>
      <vt:lpstr>Inter Bold</vt:lpstr>
      <vt:lpstr>Inter Bold</vt:lpstr>
      <vt:lpstr>Inter SemiBold</vt:lpstr>
      <vt:lpstr>Inter SemiBold</vt:lpstr>
      <vt:lpstr>Inter SemiBold</vt:lpstr>
      <vt:lpstr>monospace</vt:lpstr>
      <vt:lpstr>monospace</vt:lpstr>
      <vt:lpstr>monospace</vt:lpstr>
      <vt:lpstr>Courier New</vt:lpstr>
      <vt:lpstr>Courier New</vt:lpstr>
      <vt:lpstr>Courier New</vt:lpstr>
      <vt:lpstr>JetBrains Mono Bold</vt:lpstr>
      <vt:lpstr>JetBrains Mono Bold</vt:lpstr>
      <vt:lpstr>JetBrains Mono Bold</vt:lpstr>
      <vt:lpstr>JetBrains Mono SemiBold</vt:lpstr>
      <vt:lpstr>JetBrains Mono SemiBold</vt:lpstr>
      <vt:lpstr>JetBrains Mono SemiBold</vt:lpstr>
      <vt:lpstr>JetBrains Mono</vt:lpstr>
      <vt:lpstr>JetBrains Mono</vt:lpstr>
      <vt:lpstr>JetBrains Mono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吾࿆ྂ有࿆ྂ三࿆ྂ梦࿆ྂ</cp:lastModifiedBy>
  <cp:revision>3</cp:revision>
  <dcterms:created xsi:type="dcterms:W3CDTF">2026-05-21T15:47:00Z</dcterms:created>
  <dcterms:modified xsi:type="dcterms:W3CDTF">2026-05-21T15:49:14Z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667B49E61C50407E9FABF3F80EDBEB60_12</vt:lpwstr>
  </property>
  <property fmtid="{D5CDD505-2E9C-101B-9397-08002B2CF9AE}" pid="3" name="KSOProductBuildVer">
    <vt:lpwstr>2052-12.1.0.25865</vt:lpwstr>
  </property>
</Properties>
</file>